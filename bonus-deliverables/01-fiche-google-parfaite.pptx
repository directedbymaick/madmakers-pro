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858000" y="-1828800"/>
            <a:ext cx="7315200" cy="7315200"/>
          </a:xfrm>
          <a:prstGeom prst="ellipse">
            <a:avLst/>
          </a:prstGeom>
          <a:solidFill>
            <a:srgbClr val="2D1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40080" y="548640"/>
            <a:ext cx="4023360" cy="384048"/>
          </a:xfrm>
          <a:prstGeom prst="roundRect">
            <a:avLst>
              <a:gd name="adj" fmla="val 25000"/>
            </a:avLst>
          </a:prstGeom>
          <a:solidFill>
            <a:srgbClr val="E054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548640"/>
            <a:ext cx="4023360" cy="384048"/>
          </a:xfrm>
          <a:prstGeom prst="rect">
            <a:avLst/>
          </a:prstGeom>
          <a:noFill/>
        </p:spPr>
        <p:txBody>
          <a:bodyPr wrap="square" lIns="0" rIns="0" tIns="0" bIns="0" anchor="ctr">
            <a:spAutoFit/>
          </a:bodyPr>
          <a:lstStyle/>
          <a:p>
            <a:pPr algn="ctr">
              <a:lnSpc>
                <a:spcPct val="120000"/>
              </a:lnSpc>
            </a:pPr>
            <a:r>
              <a:rPr sz="1100" b="1">
                <a:solidFill>
                  <a:srgbClr val="0A0A0A"/>
                </a:solidFill>
                <a:latin typeface="Roboto Mono"/>
              </a:rPr>
              <a:t>BONUS #1  ·  CARNET PLEIN® BY MAD MAKERS</a:t>
            </a:r>
          </a:p>
        </p:txBody>
      </p:sp>
      <p:sp>
        <p:nvSpPr>
          <p:cNvPr id="6" name="TextBox 5"/>
          <p:cNvSpPr txBox="1"/>
          <p:nvPr/>
        </p:nvSpPr>
        <p:spPr>
          <a:xfrm>
            <a:off x="640080" y="2011680"/>
            <a:ext cx="10058400" cy="2194560"/>
          </a:xfrm>
          <a:prstGeom prst="rect">
            <a:avLst/>
          </a:prstGeom>
          <a:noFill/>
        </p:spPr>
        <p:txBody>
          <a:bodyPr wrap="square" lIns="0" rIns="0" tIns="0" bIns="0" anchor="t">
            <a:spAutoFit/>
          </a:bodyPr>
          <a:lstStyle/>
          <a:p>
            <a:pPr algn="l">
              <a:lnSpc>
                <a:spcPct val="95000"/>
              </a:lnSpc>
            </a:pPr>
            <a:r>
              <a:rPr sz="8800" b="1">
                <a:solidFill>
                  <a:srgbClr val="FFFFFF"/>
                </a:solidFill>
                <a:latin typeface="Inter"/>
              </a:rPr>
              <a:t>Fiche Google
Parfaite.</a:t>
            </a:r>
          </a:p>
        </p:txBody>
      </p:sp>
      <p:sp>
        <p:nvSpPr>
          <p:cNvPr id="7" name="Rectangle 6"/>
          <p:cNvSpPr/>
          <p:nvPr/>
        </p:nvSpPr>
        <p:spPr>
          <a:xfrm>
            <a:off x="640080" y="4572000"/>
            <a:ext cx="548640" cy="36576"/>
          </a:xfrm>
          <a:prstGeom prst="rect">
            <a:avLst/>
          </a:prstGeom>
          <a:solidFill>
            <a:srgbClr val="E054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4663440"/>
            <a:ext cx="9144000" cy="548640"/>
          </a:xfrm>
          <a:prstGeom prst="rect">
            <a:avLst/>
          </a:prstGeom>
          <a:noFill/>
        </p:spPr>
        <p:txBody>
          <a:bodyPr wrap="square" lIns="0" rIns="0" tIns="0" bIns="0" anchor="t">
            <a:spAutoFit/>
          </a:bodyPr>
          <a:lstStyle/>
          <a:p>
            <a:pPr algn="l">
              <a:lnSpc>
                <a:spcPct val="125000"/>
              </a:lnSpc>
            </a:pPr>
            <a:r>
              <a:rPr sz="2200" b="0">
                <a:solidFill>
                  <a:srgbClr val="FFFFFF"/>
                </a:solidFill>
                <a:latin typeface="Inter"/>
              </a:rPr>
              <a:t>Les 12 points qui font passer votre fiche en page 1 locale.</a:t>
            </a:r>
          </a:p>
        </p:txBody>
      </p:sp>
      <p:sp>
        <p:nvSpPr>
          <p:cNvPr id="9" name="Rounded Rectangle 8"/>
          <p:cNvSpPr/>
          <p:nvPr/>
        </p:nvSpPr>
        <p:spPr>
          <a:xfrm>
            <a:off x="640080" y="5486400"/>
            <a:ext cx="3840479" cy="365760"/>
          </a:xfrm>
          <a:prstGeom prst="roundRect">
            <a:avLst>
              <a:gd name="adj" fmla="val 25000"/>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5486400"/>
            <a:ext cx="3840479" cy="365760"/>
          </a:xfrm>
          <a:prstGeom prst="rect">
            <a:avLst/>
          </a:prstGeom>
          <a:noFill/>
        </p:spPr>
        <p:txBody>
          <a:bodyPr wrap="square" lIns="0" rIns="0" tIns="0" bIns="0" anchor="ctr">
            <a:spAutoFit/>
          </a:bodyPr>
          <a:lstStyle/>
          <a:p>
            <a:pPr algn="ctr">
              <a:lnSpc>
                <a:spcPct val="120000"/>
              </a:lnSpc>
            </a:pPr>
            <a:r>
              <a:rPr sz="900" b="0">
                <a:solidFill>
                  <a:srgbClr val="A9A69F"/>
                </a:solidFill>
                <a:latin typeface="Roboto Mono"/>
              </a:rPr>
              <a:t>12 ACTIONS CONCRETES</a:t>
            </a:r>
          </a:p>
        </p:txBody>
      </p:sp>
      <p:sp>
        <p:nvSpPr>
          <p:cNvPr id="11" name="Rounded Rectangle 10"/>
          <p:cNvSpPr/>
          <p:nvPr/>
        </p:nvSpPr>
        <p:spPr>
          <a:xfrm>
            <a:off x="4571999" y="5486400"/>
            <a:ext cx="3675887" cy="365760"/>
          </a:xfrm>
          <a:prstGeom prst="roundRect">
            <a:avLst>
              <a:gd name="adj" fmla="val 25000"/>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1999" y="5486400"/>
            <a:ext cx="3675887" cy="365760"/>
          </a:xfrm>
          <a:prstGeom prst="rect">
            <a:avLst/>
          </a:prstGeom>
          <a:noFill/>
        </p:spPr>
        <p:txBody>
          <a:bodyPr wrap="square" lIns="0" rIns="0" tIns="0" bIns="0" anchor="ctr">
            <a:spAutoFit/>
          </a:bodyPr>
          <a:lstStyle/>
          <a:p>
            <a:pPr algn="ctr">
              <a:lnSpc>
                <a:spcPct val="120000"/>
              </a:lnSpc>
            </a:pPr>
            <a:r>
              <a:rPr sz="900" b="0">
                <a:solidFill>
                  <a:srgbClr val="A9A69F"/>
                </a:solidFill>
                <a:latin typeface="Roboto Mono"/>
              </a:rPr>
              <a:t>4 A 5H SUR 30 JOURS</a:t>
            </a:r>
          </a:p>
        </p:txBody>
      </p:sp>
      <p:sp>
        <p:nvSpPr>
          <p:cNvPr id="13" name="Rounded Rectangle 12"/>
          <p:cNvSpPr/>
          <p:nvPr/>
        </p:nvSpPr>
        <p:spPr>
          <a:xfrm>
            <a:off x="8339326" y="5486400"/>
            <a:ext cx="6144768" cy="365760"/>
          </a:xfrm>
          <a:prstGeom prst="roundRect">
            <a:avLst>
              <a:gd name="adj" fmla="val 25000"/>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39326" y="5486400"/>
            <a:ext cx="6144768" cy="365760"/>
          </a:xfrm>
          <a:prstGeom prst="rect">
            <a:avLst/>
          </a:prstGeom>
          <a:noFill/>
        </p:spPr>
        <p:txBody>
          <a:bodyPr wrap="square" lIns="0" rIns="0" tIns="0" bIns="0" anchor="ctr">
            <a:spAutoFit/>
          </a:bodyPr>
          <a:lstStyle/>
          <a:p>
            <a:pPr algn="ctr">
              <a:lnSpc>
                <a:spcPct val="120000"/>
              </a:lnSpc>
            </a:pPr>
            <a:r>
              <a:rPr sz="900" b="0">
                <a:solidFill>
                  <a:srgbClr val="A9A69F"/>
                </a:solidFill>
                <a:latin typeface="Roboto Mono"/>
              </a:rPr>
              <a:t>RESULTATS VISIBLES A PARTIR DE J21</a:t>
            </a:r>
          </a:p>
        </p:txBody>
      </p:sp>
      <p:sp>
        <p:nvSpPr>
          <p:cNvPr id="15" name="TextBox 14"/>
          <p:cNvSpPr txBox="1"/>
          <p:nvPr/>
        </p:nvSpPr>
        <p:spPr>
          <a:xfrm>
            <a:off x="7772400" y="6446520"/>
            <a:ext cx="3840480" cy="274320"/>
          </a:xfrm>
          <a:prstGeom prst="rect">
            <a:avLst/>
          </a:prstGeom>
          <a:noFill/>
        </p:spPr>
        <p:txBody>
          <a:bodyPr wrap="square" lIns="0" rIns="0" tIns="0" bIns="0" anchor="t">
            <a:spAutoFit/>
          </a:bodyPr>
          <a:lstStyle/>
          <a:p>
            <a:pPr algn="r">
              <a:lnSpc>
                <a:spcPct val="120000"/>
              </a:lnSpc>
            </a:pPr>
            <a:r>
              <a:rPr sz="1000" b="0">
                <a:solidFill>
                  <a:srgbClr val="A9A69F"/>
                </a:solidFill>
                <a:latin typeface="Roboto Mono"/>
              </a:rPr>
              <a:t>pro.mad-makers.fr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48640"/>
            <a:ext cx="109728" cy="109728"/>
          </a:xfrm>
          <a:prstGeom prst="rect">
            <a:avLst/>
          </a:prstGeom>
          <a:solidFill>
            <a:srgbClr val="E054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8" y="502920"/>
            <a:ext cx="5486400" cy="274320"/>
          </a:xfrm>
          <a:prstGeom prst="rect">
            <a:avLst/>
          </a:prstGeom>
          <a:noFill/>
        </p:spPr>
        <p:txBody>
          <a:bodyPr wrap="square" lIns="0" rIns="0" tIns="0" bIns="0" anchor="t">
            <a:spAutoFit/>
          </a:bodyPr>
          <a:lstStyle/>
          <a:p>
            <a:pPr algn="l">
              <a:lnSpc>
                <a:spcPct val="120000"/>
              </a:lnSpc>
            </a:pPr>
            <a:r>
              <a:rPr sz="1000" b="0">
                <a:solidFill>
                  <a:srgbClr val="E0541B"/>
                </a:solidFill>
                <a:latin typeface="Roboto Mono"/>
              </a:rPr>
              <a:t>POURQUOI CETTE CHECKLIST</a:t>
            </a:r>
          </a:p>
        </p:txBody>
      </p:sp>
      <p:sp>
        <p:nvSpPr>
          <p:cNvPr id="5" name="TextBox 4"/>
          <p:cNvSpPr txBox="1"/>
          <p:nvPr/>
        </p:nvSpPr>
        <p:spPr>
          <a:xfrm>
            <a:off x="640080" y="960120"/>
            <a:ext cx="10515600" cy="1463040"/>
          </a:xfrm>
          <a:prstGeom prst="rect">
            <a:avLst/>
          </a:prstGeom>
          <a:noFill/>
        </p:spPr>
        <p:txBody>
          <a:bodyPr wrap="square" lIns="0" rIns="0" tIns="0" bIns="0" anchor="t">
            <a:spAutoFit/>
          </a:bodyPr>
          <a:lstStyle/>
          <a:p>
            <a:pPr algn="l">
              <a:lnSpc>
                <a:spcPct val="105000"/>
              </a:lnSpc>
            </a:pPr>
            <a:r>
              <a:rPr sz="4000" b="1">
                <a:solidFill>
                  <a:srgbClr val="0A0A0A"/>
                </a:solidFill>
                <a:latin typeface="Inter"/>
              </a:rPr>
              <a:t>76% des recherches locales sur mobile
debouchent sur un appel ou une visite.</a:t>
            </a:r>
          </a:p>
        </p:txBody>
      </p:sp>
      <p:sp>
        <p:nvSpPr>
          <p:cNvPr id="6" name="TextBox 5"/>
          <p:cNvSpPr txBox="1"/>
          <p:nvPr/>
        </p:nvSpPr>
        <p:spPr>
          <a:xfrm>
            <a:off x="640080" y="2697480"/>
            <a:ext cx="6858000" cy="2286000"/>
          </a:xfrm>
          <a:prstGeom prst="rect">
            <a:avLst/>
          </a:prstGeom>
          <a:noFill/>
        </p:spPr>
        <p:txBody>
          <a:bodyPr wrap="square" lIns="0" rIns="0" tIns="0" bIns="0" anchor="t">
            <a:spAutoFit/>
          </a:bodyPr>
          <a:lstStyle/>
          <a:p>
            <a:pPr algn="l">
              <a:lnSpc>
                <a:spcPct val="155000"/>
              </a:lnSpc>
            </a:pPr>
            <a:r>
              <a:rPr sz="1400" b="0">
                <a:solidFill>
                  <a:srgbClr val="1A1C18"/>
                </a:solidFill>
                <a:latin typeface="Inter"/>
              </a:rPr>
              <a:t>Quand un particulier tape « plombier + sa ville » sur Google, trois fiches s'affichent sur la carte avant tout le reste. C'est le bloc local (3-pack). Ces 3 fiches captent a elles seules environ 42% des clics organiques sur ce type de recherche (Backlinko, 2024). Si votre fiche n'apparait pas dans le 3-pack, vous laissez la quasi-totalite des prospects a vos concurrents.
Appliquez les 12 points ci-dessous, votre visibilite monte et les appels suivent.</a:t>
            </a:r>
          </a:p>
        </p:txBody>
      </p:sp>
      <p:sp>
        <p:nvSpPr>
          <p:cNvPr id="7" name="Rounded Rectangle 6"/>
          <p:cNvSpPr/>
          <p:nvPr/>
        </p:nvSpPr>
        <p:spPr>
          <a:xfrm>
            <a:off x="7863840" y="2697480"/>
            <a:ext cx="3703320" cy="3291840"/>
          </a:xfrm>
          <a:prstGeom prst="roundRect">
            <a:avLst>
              <a:gd name="adj" fmla="val 25000"/>
            </a:avLst>
          </a:prstGeom>
          <a:solidFill>
            <a:srgbClr val="EBE7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092440" y="2926080"/>
            <a:ext cx="109728" cy="109728"/>
          </a:xfrm>
          <a:prstGeom prst="rect">
            <a:avLst/>
          </a:prstGeom>
          <a:solidFill>
            <a:srgbClr val="E054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93608" y="2880360"/>
            <a:ext cx="3657600" cy="274320"/>
          </a:xfrm>
          <a:prstGeom prst="rect">
            <a:avLst/>
          </a:prstGeom>
          <a:noFill/>
        </p:spPr>
        <p:txBody>
          <a:bodyPr wrap="square" lIns="0" rIns="0" tIns="0" bIns="0" anchor="t">
            <a:spAutoFit/>
          </a:bodyPr>
          <a:lstStyle/>
          <a:p>
            <a:pPr algn="l">
              <a:lnSpc>
                <a:spcPct val="120000"/>
              </a:lnSpc>
            </a:pPr>
            <a:r>
              <a:rPr sz="1000" b="0">
                <a:solidFill>
                  <a:srgbClr val="E0541B"/>
                </a:solidFill>
                <a:latin typeface="Roboto Mono"/>
              </a:rPr>
              <a:t>COMMENT UTILISER CE DOCUMENT</a:t>
            </a:r>
          </a:p>
        </p:txBody>
      </p:sp>
      <p:sp>
        <p:nvSpPr>
          <p:cNvPr id="10" name="TextBox 9"/>
          <p:cNvSpPr txBox="1"/>
          <p:nvPr/>
        </p:nvSpPr>
        <p:spPr>
          <a:xfrm>
            <a:off x="8092440" y="3383280"/>
            <a:ext cx="3337560" cy="2468880"/>
          </a:xfrm>
          <a:prstGeom prst="rect">
            <a:avLst/>
          </a:prstGeom>
          <a:noFill/>
        </p:spPr>
        <p:txBody>
          <a:bodyPr wrap="square" lIns="0" rIns="0" tIns="0" bIns="0">
            <a:spAutoFit/>
          </a:bodyPr>
          <a:lstStyle/>
          <a:p>
            <a:pPr algn="l">
              <a:lnSpc>
                <a:spcPct val="140000"/>
              </a:lnSpc>
              <a:spcAft>
                <a:spcPts val="400"/>
              </a:spcAft>
            </a:pPr>
            <a:r>
              <a:rPr sz="1200">
                <a:solidFill>
                  <a:srgbClr val="1A1C18"/>
                </a:solidFill>
                <a:latin typeface="Inter"/>
              </a:rPr>
              <a:t>-  Travaillez les 12 points dans l'ordre - ils sont classes par impact</a:t>
            </a:r>
          </a:p>
          <a:p>
            <a:pPr algn="l">
              <a:lnSpc>
                <a:spcPct val="140000"/>
              </a:lnSpc>
              <a:spcAft>
                <a:spcPts val="400"/>
              </a:spcAft>
            </a:pPr>
            <a:r>
              <a:rPr sz="1200">
                <a:solidFill>
                  <a:srgbClr val="1A1C18"/>
                </a:solidFill>
                <a:latin typeface="Inter"/>
              </a:rPr>
              <a:t>-  Chaque point prend 10 a 45 minutes - etalez sur la semaine</a:t>
            </a:r>
          </a:p>
          <a:p>
            <a:pPr algn="l">
              <a:lnSpc>
                <a:spcPct val="140000"/>
              </a:lnSpc>
              <a:spcAft>
                <a:spcPts val="400"/>
              </a:spcAft>
            </a:pPr>
            <a:r>
              <a:rPr sz="1200">
                <a:solidFill>
                  <a:srgbClr val="1A1C18"/>
                </a:solidFill>
                <a:latin typeface="Inter"/>
              </a:rPr>
              <a:t>-  Cochez les cases au fur et a mesure. Recommencez tous les 6 mois.</a:t>
            </a:r>
          </a:p>
        </p:txBody>
      </p:sp>
      <p:sp>
        <p:nvSpPr>
          <p:cNvPr id="11" name="Rounded Rectangle 10"/>
          <p:cNvSpPr/>
          <p:nvPr/>
        </p:nvSpPr>
        <p:spPr>
          <a:xfrm>
            <a:off x="640080" y="5349240"/>
            <a:ext cx="10927080" cy="914400"/>
          </a:xfrm>
          <a:prstGeom prst="roundRect">
            <a:avLst>
              <a:gd name="adj" fmla="val 25000"/>
            </a:avLst>
          </a:prstGeom>
          <a:solidFill>
            <a:srgbClr val="1A1C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8680" y="5650992"/>
            <a:ext cx="109728" cy="109728"/>
          </a:xfrm>
          <a:prstGeom prst="rect">
            <a:avLst/>
          </a:prstGeom>
          <a:solidFill>
            <a:srgbClr val="E054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5486400"/>
            <a:ext cx="2194560" cy="320040"/>
          </a:xfrm>
          <a:prstGeom prst="rect">
            <a:avLst/>
          </a:prstGeom>
          <a:noFill/>
        </p:spPr>
        <p:txBody>
          <a:bodyPr wrap="square" lIns="0" rIns="0" tIns="0" bIns="0" anchor="t">
            <a:spAutoFit/>
          </a:bodyPr>
          <a:lstStyle/>
          <a:p>
            <a:pPr algn="l">
              <a:lnSpc>
                <a:spcPct val="120000"/>
              </a:lnSpc>
            </a:pPr>
            <a:r>
              <a:rPr sz="1000" b="1">
                <a:solidFill>
                  <a:srgbClr val="E0541B"/>
                </a:solidFill>
                <a:latin typeface="Roboto Mono"/>
              </a:rPr>
              <a:t>NOTE 2026</a:t>
            </a:r>
          </a:p>
        </p:txBody>
      </p:sp>
      <p:sp>
        <p:nvSpPr>
          <p:cNvPr id="14" name="TextBox 13"/>
          <p:cNvSpPr txBox="1"/>
          <p:nvPr/>
        </p:nvSpPr>
        <p:spPr>
          <a:xfrm>
            <a:off x="1097280" y="5806440"/>
            <a:ext cx="10241280" cy="457200"/>
          </a:xfrm>
          <a:prstGeom prst="rect">
            <a:avLst/>
          </a:prstGeom>
          <a:noFill/>
        </p:spPr>
        <p:txBody>
          <a:bodyPr wrap="square" lIns="0" rIns="0" tIns="0" bIns="0" anchor="t">
            <a:spAutoFit/>
          </a:bodyPr>
          <a:lstStyle/>
          <a:p>
            <a:pPr algn="l">
              <a:lnSpc>
                <a:spcPct val="140000"/>
              </a:lnSpc>
            </a:pPr>
            <a:r>
              <a:rPr sz="1100" b="0">
                <a:solidFill>
                  <a:srgbClr val="FFFFFF"/>
                </a:solidFill>
                <a:latin typeface="Inter"/>
              </a:rPr>
              <a:t>Google ne gere plus les fiches mono-etablissement sur business.google.com. Tout passe par Google Search - tapez le nom de votre entreprise dans Google, le panneau de gestion s'affiche avec le bouton Modifier le profil.</a:t>
            </a:r>
          </a:p>
        </p:txBody>
      </p:sp>
      <p:sp>
        <p:nvSpPr>
          <p:cNvPr id="15" name="TextBox 14"/>
          <p:cNvSpPr txBox="1"/>
          <p:nvPr/>
        </p:nvSpPr>
        <p:spPr>
          <a:xfrm>
            <a:off x="640080" y="6446520"/>
            <a:ext cx="6400800" cy="274320"/>
          </a:xfrm>
          <a:prstGeom prst="rect">
            <a:avLst/>
          </a:prstGeom>
          <a:noFill/>
        </p:spPr>
        <p:txBody>
          <a:bodyPr wrap="square" lIns="0" rIns="0" tIns="0" bIns="0" anchor="t">
            <a:spAutoFit/>
          </a:bodyPr>
          <a:lstStyle/>
          <a:p>
            <a:pPr algn="l">
              <a:lnSpc>
                <a:spcPct val="120000"/>
              </a:lnSpc>
            </a:pPr>
            <a:r>
              <a:rPr sz="800" b="0">
                <a:solidFill>
                  <a:srgbClr val="5A5D56"/>
                </a:solidFill>
                <a:latin typeface="Roboto Mono"/>
              </a:rPr>
              <a:t>CARNET PLEIN® BY MAD MAKERS  ·  BONUS #1 · FICHE GOOGLE PARFAITE</a:t>
            </a:r>
          </a:p>
        </p:txBody>
      </p:sp>
      <p:sp>
        <p:nvSpPr>
          <p:cNvPr id="16" name="TextBox 15"/>
          <p:cNvSpPr txBox="1"/>
          <p:nvPr/>
        </p:nvSpPr>
        <p:spPr>
          <a:xfrm>
            <a:off x="10607040" y="6446520"/>
            <a:ext cx="1005840" cy="274320"/>
          </a:xfrm>
          <a:prstGeom prst="rect">
            <a:avLst/>
          </a:prstGeom>
          <a:noFill/>
        </p:spPr>
        <p:txBody>
          <a:bodyPr wrap="square" lIns="0" rIns="0" tIns="0" bIns="0" anchor="t">
            <a:spAutoFit/>
          </a:bodyPr>
          <a:lstStyle/>
          <a:p>
            <a:pPr algn="r">
              <a:lnSpc>
                <a:spcPct val="120000"/>
              </a:lnSpc>
            </a:pPr>
            <a:r>
              <a:rPr sz="800" b="0">
                <a:solidFill>
                  <a:srgbClr val="5A5D56"/>
                </a:solidFill>
                <a:latin typeface="Roboto Mono"/>
              </a:rPr>
              <a:t>02 / 18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371600" cy="365760"/>
          </a:xfrm>
          <a:prstGeom prst="rect">
            <a:avLst/>
          </a:prstGeom>
          <a:noFill/>
        </p:spPr>
        <p:txBody>
          <a:bodyPr wrap="square" lIns="0" rIns="0" tIns="0" bIns="0" anchor="t">
            <a:spAutoFit/>
          </a:bodyPr>
          <a:lstStyle/>
          <a:p>
            <a:pPr algn="l">
              <a:lnSpc>
                <a:spcPct val="120000"/>
              </a:lnSpc>
            </a:pPr>
            <a:r>
              <a:rPr sz="1200" b="1">
                <a:solidFill>
                  <a:srgbClr val="E0541B"/>
                </a:solidFill>
                <a:latin typeface="Roboto Mono"/>
              </a:rPr>
              <a:t>01 / 12</a:t>
            </a:r>
          </a:p>
        </p:txBody>
      </p:sp>
      <p:sp>
        <p:nvSpPr>
          <p:cNvPr id="4" name="TextBox 3"/>
          <p:cNvSpPr txBox="1"/>
          <p:nvPr/>
        </p:nvSpPr>
        <p:spPr>
          <a:xfrm>
            <a:off x="640080" y="914400"/>
            <a:ext cx="10515600" cy="914400"/>
          </a:xfrm>
          <a:prstGeom prst="rect">
            <a:avLst/>
          </a:prstGeom>
          <a:noFill/>
        </p:spPr>
        <p:txBody>
          <a:bodyPr wrap="square" lIns="0" rIns="0" tIns="0" bIns="0" anchor="t">
            <a:spAutoFit/>
          </a:bodyPr>
          <a:lstStyle/>
          <a:p>
            <a:pPr algn="l">
              <a:lnSpc>
                <a:spcPct val="110000"/>
              </a:lnSpc>
            </a:pPr>
            <a:r>
              <a:rPr sz="3200" b="1">
                <a:solidFill>
                  <a:srgbClr val="0A0A0A"/>
                </a:solidFill>
                <a:latin typeface="Inter"/>
              </a:rPr>
              <a:t>Choisir la bonne categorie principale</a:t>
            </a:r>
          </a:p>
        </p:txBody>
      </p:sp>
      <p:sp>
        <p:nvSpPr>
          <p:cNvPr id="5" name="Rectangle 4"/>
          <p:cNvSpPr/>
          <p:nvPr/>
        </p:nvSpPr>
        <p:spPr>
          <a:xfrm>
            <a:off x="640080" y="1920240"/>
            <a:ext cx="457200" cy="36576"/>
          </a:xfrm>
          <a:prstGeom prst="rect">
            <a:avLst/>
          </a:prstGeom>
          <a:solidFill>
            <a:srgbClr val="E054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286000"/>
            <a:ext cx="5303520" cy="274320"/>
          </a:xfrm>
          <a:prstGeom prst="rect">
            <a:avLst/>
          </a:prstGeom>
          <a:noFill/>
        </p:spPr>
        <p:txBody>
          <a:bodyPr wrap="square" lIns="0" rIns="0" tIns="0" bIns="0" anchor="t">
            <a:spAutoFit/>
          </a:bodyPr>
          <a:lstStyle/>
          <a:p>
            <a:pPr algn="l">
              <a:lnSpc>
                <a:spcPct val="120000"/>
              </a:lnSpc>
            </a:pPr>
            <a:r>
              <a:rPr sz="1000" b="1">
                <a:solidFill>
                  <a:srgbClr val="E0541B"/>
                </a:solidFill>
                <a:latin typeface="Roboto Mono"/>
              </a:rPr>
              <a:t>POURQUOI C'EST IMPORTANT</a:t>
            </a:r>
          </a:p>
        </p:txBody>
      </p:sp>
      <p:sp>
        <p:nvSpPr>
          <p:cNvPr id="7" name="TextBox 6"/>
          <p:cNvSpPr txBox="1"/>
          <p:nvPr/>
        </p:nvSpPr>
        <p:spPr>
          <a:xfrm>
            <a:off x="640080" y="2697480"/>
            <a:ext cx="5303520" cy="2743200"/>
          </a:xfrm>
          <a:prstGeom prst="rect">
            <a:avLst/>
          </a:prstGeom>
          <a:noFill/>
        </p:spPr>
        <p:txBody>
          <a:bodyPr wrap="square" lIns="0" rIns="0" tIns="0" bIns="0" anchor="t">
            <a:spAutoFit/>
          </a:bodyPr>
          <a:lstStyle/>
          <a:p>
            <a:pPr algn="l">
              <a:lnSpc>
                <a:spcPct val="155000"/>
              </a:lnSpc>
            </a:pPr>
            <a:r>
              <a:rPr sz="1300" b="0">
                <a:solidFill>
                  <a:srgbClr val="1A1C18"/>
                </a:solidFill>
                <a:latin typeface="Inter"/>
              </a:rPr>
              <a:t>Quand quelqu'un tape « plombier reims » ou « chauffagiste creil », Google regarde votre categorie principale en premier. Si elle est mauvaise ou floue, Google ne sait pas ou vous ranger. Vous etes invisible. C'est la base.</a:t>
            </a:r>
          </a:p>
        </p:txBody>
      </p:sp>
      <p:sp>
        <p:nvSpPr>
          <p:cNvPr id="8" name="TextBox 7"/>
          <p:cNvSpPr txBox="1"/>
          <p:nvPr/>
        </p:nvSpPr>
        <p:spPr>
          <a:xfrm>
            <a:off x="6263640" y="2286000"/>
            <a:ext cx="5303520" cy="274320"/>
          </a:xfrm>
          <a:prstGeom prst="rect">
            <a:avLst/>
          </a:prstGeom>
          <a:noFill/>
        </p:spPr>
        <p:txBody>
          <a:bodyPr wrap="square" lIns="0" rIns="0" tIns="0" bIns="0" anchor="t">
            <a:spAutoFit/>
          </a:bodyPr>
          <a:lstStyle/>
          <a:p>
            <a:pPr algn="l">
              <a:lnSpc>
                <a:spcPct val="120000"/>
              </a:lnSpc>
            </a:pPr>
            <a:r>
              <a:rPr sz="1000" b="1">
                <a:solidFill>
                  <a:srgbClr val="E0541B"/>
                </a:solidFill>
                <a:latin typeface="Roboto Mono"/>
              </a:rPr>
              <a:t>ACTION CONCRETE</a:t>
            </a:r>
          </a:p>
        </p:txBody>
      </p:sp>
      <p:sp>
        <p:nvSpPr>
          <p:cNvPr id="9" name="TextBox 8"/>
          <p:cNvSpPr txBox="1"/>
          <p:nvPr/>
        </p:nvSpPr>
        <p:spPr>
          <a:xfrm>
            <a:off x="6263640" y="2697480"/>
            <a:ext cx="5303520" cy="3200400"/>
          </a:xfrm>
          <a:prstGeom prst="rect">
            <a:avLst/>
          </a:prstGeom>
          <a:noFill/>
        </p:spPr>
        <p:txBody>
          <a:bodyPr wrap="square" lIns="0" rIns="0" tIns="0" bIns="0">
            <a:spAutoFit/>
          </a:bodyPr>
          <a:lstStyle/>
          <a:p>
            <a:pPr algn="l">
              <a:lnSpc>
                <a:spcPct val="150000"/>
              </a:lnSpc>
              <a:spcAft>
                <a:spcPts val="600"/>
              </a:spcAft>
            </a:pPr>
            <a:r>
              <a:rPr sz="1200" b="1">
                <a:solidFill>
                  <a:srgbClr val="E0541B"/>
                </a:solidFill>
                <a:latin typeface="Inter"/>
              </a:rPr>
              <a:t>1.  </a:t>
            </a:r>
            <a:r>
              <a:rPr sz="1200">
                <a:solidFill>
                  <a:srgbClr val="1A1C18"/>
                </a:solidFill>
                <a:latin typeface="Inter"/>
              </a:rPr>
              <a:t>Tapez le nom de votre entreprise dans Google, connecte a votre compte proprietaire</a:t>
            </a:r>
          </a:p>
          <a:p>
            <a:pPr algn="l">
              <a:lnSpc>
                <a:spcPct val="150000"/>
              </a:lnSpc>
              <a:spcAft>
                <a:spcPts val="600"/>
              </a:spcAft>
            </a:pPr>
            <a:r>
              <a:rPr sz="1200" b="1">
                <a:solidFill>
                  <a:srgbClr val="E0541B"/>
                </a:solidFill>
                <a:latin typeface="Inter"/>
              </a:rPr>
              <a:t>2.  </a:t>
            </a:r>
            <a:r>
              <a:rPr sz="1200">
                <a:solidFill>
                  <a:srgbClr val="1A1C18"/>
                </a:solidFill>
                <a:latin typeface="Inter"/>
              </a:rPr>
              <a:t>Votre fiche apparait, cliquez sur Modifier le profil</a:t>
            </a:r>
          </a:p>
          <a:p>
            <a:pPr algn="l">
              <a:lnSpc>
                <a:spcPct val="150000"/>
              </a:lnSpc>
              <a:spcAft>
                <a:spcPts val="600"/>
              </a:spcAft>
            </a:pPr>
            <a:r>
              <a:rPr sz="1200" b="1">
                <a:solidFill>
                  <a:srgbClr val="E0541B"/>
                </a:solidFill>
                <a:latin typeface="Inter"/>
              </a:rPr>
              <a:t>3.  </a:t>
            </a:r>
            <a:r>
              <a:rPr sz="1200">
                <a:solidFill>
                  <a:srgbClr val="1A1C18"/>
                </a:solidFill>
                <a:latin typeface="Inter"/>
              </a:rPr>
              <a:t>A propos &gt; Categorie principale</a:t>
            </a:r>
          </a:p>
          <a:p>
            <a:pPr algn="l">
              <a:lnSpc>
                <a:spcPct val="150000"/>
              </a:lnSpc>
              <a:spcAft>
                <a:spcPts val="600"/>
              </a:spcAft>
            </a:pPr>
            <a:r>
              <a:rPr sz="1200" b="1">
                <a:solidFill>
                  <a:srgbClr val="E0541B"/>
                </a:solidFill>
                <a:latin typeface="Inter"/>
              </a:rPr>
              <a:t>4.  </a:t>
            </a:r>
            <a:r>
              <a:rPr sz="1200">
                <a:solidFill>
                  <a:srgbClr val="1A1C18"/>
                </a:solidFill>
                <a:latin typeface="Inter"/>
              </a:rPr>
              <a:t>Tapez votre metier exact : Plombier ou Plombier-chauffagiste. Pas Artisan, pas Entreprise du batiment</a:t>
            </a:r>
          </a:p>
          <a:p>
            <a:pPr algn="l">
              <a:lnSpc>
                <a:spcPct val="150000"/>
              </a:lnSpc>
              <a:spcAft>
                <a:spcPts val="600"/>
              </a:spcAft>
            </a:pPr>
            <a:r>
              <a:rPr sz="1200" b="1">
                <a:solidFill>
                  <a:srgbClr val="E0541B"/>
                </a:solidFill>
                <a:latin typeface="Inter"/>
              </a:rPr>
              <a:t>5.  </a:t>
            </a:r>
            <a:r>
              <a:rPr sz="1200">
                <a:solidFill>
                  <a:srgbClr val="1A1C18"/>
                </a:solidFill>
                <a:latin typeface="Inter"/>
              </a:rPr>
              <a:t>Sauvegardez</a:t>
            </a:r>
          </a:p>
        </p:txBody>
      </p:sp>
      <p:sp>
        <p:nvSpPr>
          <p:cNvPr id="10" name="Rectangle 9"/>
          <p:cNvSpPr/>
          <p:nvPr/>
        </p:nvSpPr>
        <p:spPr>
          <a:xfrm>
            <a:off x="640080" y="5852160"/>
            <a:ext cx="256032" cy="256032"/>
          </a:xfrm>
          <a:prstGeom prst="rect">
            <a:avLst/>
          </a:prstGeom>
          <a:solidFill>
            <a:srgbClr val="F3F2EE"/>
          </a:solidFill>
          <a:ln w="15240">
            <a:solidFill>
              <a:srgbClr val="1A1C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5815584"/>
            <a:ext cx="1828800" cy="365760"/>
          </a:xfrm>
          <a:prstGeom prst="rect">
            <a:avLst/>
          </a:prstGeom>
          <a:noFill/>
        </p:spPr>
        <p:txBody>
          <a:bodyPr wrap="square" lIns="0" rIns="0" tIns="0" bIns="0" anchor="t">
            <a:spAutoFit/>
          </a:bodyPr>
          <a:lstStyle/>
          <a:p>
            <a:pPr algn="l">
              <a:lnSpc>
                <a:spcPct val="120000"/>
              </a:lnSpc>
            </a:pPr>
            <a:r>
              <a:rPr sz="1200" b="0">
                <a:solidFill>
                  <a:srgbClr val="1A1C18"/>
                </a:solidFill>
                <a:latin typeface="Inter"/>
              </a:rPr>
              <a:t>Fait</a:t>
            </a:r>
          </a:p>
        </p:txBody>
      </p:sp>
      <p:sp>
        <p:nvSpPr>
          <p:cNvPr id="12" name="Rectangle 11"/>
          <p:cNvSpPr/>
          <p:nvPr/>
        </p:nvSpPr>
        <p:spPr>
          <a:xfrm>
            <a:off x="6995160" y="5806440"/>
            <a:ext cx="4572000" cy="502920"/>
          </a:xfrm>
          <a:prstGeom prst="rect">
            <a:avLst/>
          </a:prstGeom>
          <a:solidFill>
            <a:srgbClr val="EBE7DC"/>
          </a:solidFill>
          <a:ln w="6350">
            <a:solidFill>
              <a:srgbClr val="D5D2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95160" y="5806440"/>
            <a:ext cx="4572000" cy="502920"/>
          </a:xfrm>
          <a:prstGeom prst="rect">
            <a:avLst/>
          </a:prstGeom>
          <a:noFill/>
        </p:spPr>
        <p:txBody>
          <a:bodyPr wrap="square" lIns="0" rIns="0" tIns="0" bIns="0" anchor="ctr">
            <a:spAutoFit/>
          </a:bodyPr>
          <a:lstStyle/>
          <a:p>
            <a:pPr algn="ctr">
              <a:lnSpc>
                <a:spcPct val="150000"/>
              </a:lnSpc>
            </a:pPr>
            <a:r>
              <a:rPr sz="1000" b="0">
                <a:solidFill>
                  <a:srgbClr val="5A5D56"/>
                </a:solidFill>
                <a:latin typeface="Roboto Mono"/>
              </a:rPr>
              <a:t>⎘   CAPTURE À INSERER
Editeur Categorie principale - GBP</a:t>
            </a:r>
          </a:p>
        </p:txBody>
      </p:sp>
      <p:sp>
        <p:nvSpPr>
          <p:cNvPr id="14" name="TextBox 13"/>
          <p:cNvSpPr txBox="1"/>
          <p:nvPr/>
        </p:nvSpPr>
        <p:spPr>
          <a:xfrm>
            <a:off x="640080" y="6446520"/>
            <a:ext cx="6400800" cy="274320"/>
          </a:xfrm>
          <a:prstGeom prst="rect">
            <a:avLst/>
          </a:prstGeom>
          <a:noFill/>
        </p:spPr>
        <p:txBody>
          <a:bodyPr wrap="square" lIns="0" rIns="0" tIns="0" bIns="0" anchor="t">
            <a:spAutoFit/>
          </a:bodyPr>
          <a:lstStyle/>
          <a:p>
            <a:pPr algn="l">
              <a:lnSpc>
                <a:spcPct val="120000"/>
              </a:lnSpc>
            </a:pPr>
            <a:r>
              <a:rPr sz="800" b="0">
                <a:solidFill>
                  <a:srgbClr val="5A5D56"/>
                </a:solidFill>
                <a:latin typeface="Roboto Mono"/>
              </a:rPr>
              <a:t>CARNET PLEIN® BY MAD MAKERS  ·  BONUS #1 · FICHE GOOGLE PARFAITE</a:t>
            </a:r>
          </a:p>
        </p:txBody>
      </p:sp>
      <p:sp>
        <p:nvSpPr>
          <p:cNvPr id="15" name="TextBox 14"/>
          <p:cNvSpPr txBox="1"/>
          <p:nvPr/>
        </p:nvSpPr>
        <p:spPr>
          <a:xfrm>
            <a:off x="10607040" y="6446520"/>
            <a:ext cx="1005840" cy="274320"/>
          </a:xfrm>
          <a:prstGeom prst="rect">
            <a:avLst/>
          </a:prstGeom>
          <a:noFill/>
        </p:spPr>
        <p:txBody>
          <a:bodyPr wrap="square" lIns="0" rIns="0" tIns="0" bIns="0" anchor="t">
            <a:spAutoFit/>
          </a:bodyPr>
          <a:lstStyle/>
          <a:p>
            <a:pPr algn="r">
              <a:lnSpc>
                <a:spcPct val="120000"/>
              </a:lnSpc>
            </a:pPr>
            <a:r>
              <a:rPr sz="800" b="0">
                <a:solidFill>
                  <a:srgbClr val="5A5D56"/>
                </a:solidFill>
                <a:latin typeface="Roboto Mono"/>
              </a:rPr>
              <a:t>03 / 18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371600" cy="365760"/>
          </a:xfrm>
          <a:prstGeom prst="rect">
            <a:avLst/>
          </a:prstGeom>
          <a:noFill/>
        </p:spPr>
        <p:txBody>
          <a:bodyPr wrap="square" lIns="0" rIns="0" tIns="0" bIns="0" anchor="t">
            <a:spAutoFit/>
          </a:bodyPr>
          <a:lstStyle/>
          <a:p>
            <a:pPr algn="l">
              <a:lnSpc>
                <a:spcPct val="120000"/>
              </a:lnSpc>
            </a:pPr>
            <a:r>
              <a:rPr sz="1200" b="1">
                <a:solidFill>
                  <a:srgbClr val="E0541B"/>
                </a:solidFill>
                <a:latin typeface="Roboto Mono"/>
              </a:rPr>
              <a:t>02 / 12</a:t>
            </a:r>
          </a:p>
        </p:txBody>
      </p:sp>
      <p:sp>
        <p:nvSpPr>
          <p:cNvPr id="4" name="TextBox 3"/>
          <p:cNvSpPr txBox="1"/>
          <p:nvPr/>
        </p:nvSpPr>
        <p:spPr>
          <a:xfrm>
            <a:off x="640080" y="914400"/>
            <a:ext cx="10515600" cy="914400"/>
          </a:xfrm>
          <a:prstGeom prst="rect">
            <a:avLst/>
          </a:prstGeom>
          <a:noFill/>
        </p:spPr>
        <p:txBody>
          <a:bodyPr wrap="square" lIns="0" rIns="0" tIns="0" bIns="0" anchor="t">
            <a:spAutoFit/>
          </a:bodyPr>
          <a:lstStyle/>
          <a:p>
            <a:pPr algn="l">
              <a:lnSpc>
                <a:spcPct val="110000"/>
              </a:lnSpc>
            </a:pPr>
            <a:r>
              <a:rPr sz="3200" b="1">
                <a:solidFill>
                  <a:srgbClr val="0A0A0A"/>
                </a:solidFill>
                <a:latin typeface="Inter"/>
              </a:rPr>
              <a:t>Ajouter toutes vos categories secondaires</a:t>
            </a:r>
          </a:p>
        </p:txBody>
      </p:sp>
      <p:sp>
        <p:nvSpPr>
          <p:cNvPr id="5" name="Rectangle 4"/>
          <p:cNvSpPr/>
          <p:nvPr/>
        </p:nvSpPr>
        <p:spPr>
          <a:xfrm>
            <a:off x="640080" y="1920240"/>
            <a:ext cx="457200" cy="36576"/>
          </a:xfrm>
          <a:prstGeom prst="rect">
            <a:avLst/>
          </a:prstGeom>
          <a:solidFill>
            <a:srgbClr val="E054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286000"/>
            <a:ext cx="5303520" cy="274320"/>
          </a:xfrm>
          <a:prstGeom prst="rect">
            <a:avLst/>
          </a:prstGeom>
          <a:noFill/>
        </p:spPr>
        <p:txBody>
          <a:bodyPr wrap="square" lIns="0" rIns="0" tIns="0" bIns="0" anchor="t">
            <a:spAutoFit/>
          </a:bodyPr>
          <a:lstStyle/>
          <a:p>
            <a:pPr algn="l">
              <a:lnSpc>
                <a:spcPct val="120000"/>
              </a:lnSpc>
            </a:pPr>
            <a:r>
              <a:rPr sz="1000" b="1">
                <a:solidFill>
                  <a:srgbClr val="E0541B"/>
                </a:solidFill>
                <a:latin typeface="Roboto Mono"/>
              </a:rPr>
              <a:t>POURQUOI C'EST IMPORTANT</a:t>
            </a:r>
          </a:p>
        </p:txBody>
      </p:sp>
      <p:sp>
        <p:nvSpPr>
          <p:cNvPr id="7" name="TextBox 6"/>
          <p:cNvSpPr txBox="1"/>
          <p:nvPr/>
        </p:nvSpPr>
        <p:spPr>
          <a:xfrm>
            <a:off x="640080" y="2697480"/>
            <a:ext cx="5303520" cy="2743200"/>
          </a:xfrm>
          <a:prstGeom prst="rect">
            <a:avLst/>
          </a:prstGeom>
          <a:noFill/>
        </p:spPr>
        <p:txBody>
          <a:bodyPr wrap="square" lIns="0" rIns="0" tIns="0" bIns="0" anchor="t">
            <a:spAutoFit/>
          </a:bodyPr>
          <a:lstStyle/>
          <a:p>
            <a:pPr algn="l">
              <a:lnSpc>
                <a:spcPct val="155000"/>
              </a:lnSpc>
            </a:pPr>
            <a:r>
              <a:rPr sz="1300" b="0">
                <a:solidFill>
                  <a:srgbClr val="1A1C18"/>
                </a:solidFill>
                <a:latin typeface="Inter"/>
              </a:rPr>
              <a:t>Google vous laisse 1 categorie principale + jusqu'a 9 categories secondaires. Chaque categorie cochee vous rend visible sur une recherche associee. Si vous installez des PAC mais que Installateur de pompes a chaleur n'est pas cochee, vous ne ressortez pas sur cette recherche. Dommage, c'est la que se trouve le panier moyen le plus gros.</a:t>
            </a:r>
          </a:p>
        </p:txBody>
      </p:sp>
      <p:sp>
        <p:nvSpPr>
          <p:cNvPr id="8" name="TextBox 7"/>
          <p:cNvSpPr txBox="1"/>
          <p:nvPr/>
        </p:nvSpPr>
        <p:spPr>
          <a:xfrm>
            <a:off x="6263640" y="2286000"/>
            <a:ext cx="5303520" cy="274320"/>
          </a:xfrm>
          <a:prstGeom prst="rect">
            <a:avLst/>
          </a:prstGeom>
          <a:noFill/>
        </p:spPr>
        <p:txBody>
          <a:bodyPr wrap="square" lIns="0" rIns="0" tIns="0" bIns="0" anchor="t">
            <a:spAutoFit/>
          </a:bodyPr>
          <a:lstStyle/>
          <a:p>
            <a:pPr algn="l">
              <a:lnSpc>
                <a:spcPct val="120000"/>
              </a:lnSpc>
            </a:pPr>
            <a:r>
              <a:rPr sz="1000" b="1">
                <a:solidFill>
                  <a:srgbClr val="E0541B"/>
                </a:solidFill>
                <a:latin typeface="Roboto Mono"/>
              </a:rPr>
              <a:t>ACTION CONCRETE</a:t>
            </a:r>
          </a:p>
        </p:txBody>
      </p:sp>
      <p:sp>
        <p:nvSpPr>
          <p:cNvPr id="9" name="TextBox 8"/>
          <p:cNvSpPr txBox="1"/>
          <p:nvPr/>
        </p:nvSpPr>
        <p:spPr>
          <a:xfrm>
            <a:off x="6263640" y="2697480"/>
            <a:ext cx="5303520" cy="3200400"/>
          </a:xfrm>
          <a:prstGeom prst="rect">
            <a:avLst/>
          </a:prstGeom>
          <a:noFill/>
        </p:spPr>
        <p:txBody>
          <a:bodyPr wrap="square" lIns="0" rIns="0" tIns="0" bIns="0">
            <a:spAutoFit/>
          </a:bodyPr>
          <a:lstStyle/>
          <a:p>
            <a:pPr algn="l">
              <a:lnSpc>
                <a:spcPct val="150000"/>
              </a:lnSpc>
              <a:spcAft>
                <a:spcPts val="600"/>
              </a:spcAft>
            </a:pPr>
            <a:r>
              <a:rPr sz="1200" b="1">
                <a:solidFill>
                  <a:srgbClr val="E0541B"/>
                </a:solidFill>
                <a:latin typeface="Inter"/>
              </a:rPr>
              <a:t>1.  </a:t>
            </a:r>
            <a:r>
              <a:rPr sz="1200">
                <a:solidFill>
                  <a:srgbClr val="1A1C18"/>
                </a:solidFill>
                <a:latin typeface="Inter"/>
              </a:rPr>
              <a:t>Modifier le profil &gt; A propos &gt; Categories supplementaires</a:t>
            </a:r>
          </a:p>
          <a:p>
            <a:pPr algn="l">
              <a:lnSpc>
                <a:spcPct val="150000"/>
              </a:lnSpc>
              <a:spcAft>
                <a:spcPts val="600"/>
              </a:spcAft>
            </a:pPr>
            <a:r>
              <a:rPr sz="1200" b="1">
                <a:solidFill>
                  <a:srgbClr val="E0541B"/>
                </a:solidFill>
                <a:latin typeface="Inter"/>
              </a:rPr>
              <a:t>2.  </a:t>
            </a:r>
            <a:r>
              <a:rPr sz="1200">
                <a:solidFill>
                  <a:srgbClr val="1A1C18"/>
                </a:solidFill>
                <a:latin typeface="Inter"/>
              </a:rPr>
              <a:t>Cliquez sur Ajouter une autre categorie</a:t>
            </a:r>
          </a:p>
          <a:p>
            <a:pPr algn="l">
              <a:lnSpc>
                <a:spcPct val="150000"/>
              </a:lnSpc>
              <a:spcAft>
                <a:spcPts val="600"/>
              </a:spcAft>
            </a:pPr>
            <a:r>
              <a:rPr sz="1200" b="1">
                <a:solidFill>
                  <a:srgbClr val="E0541B"/>
                </a:solidFill>
                <a:latin typeface="Inter"/>
              </a:rPr>
              <a:t>3.  </a:t>
            </a:r>
            <a:r>
              <a:rPr sz="1200">
                <a:solidFill>
                  <a:srgbClr val="1A1C18"/>
                </a:solidFill>
                <a:latin typeface="Inter"/>
              </a:rPr>
              <a:t>Cochez vos vrais services : Chauffagiste, Installateur de pompes a chaleur, Service de plomberie d'urgence...</a:t>
            </a:r>
          </a:p>
          <a:p>
            <a:pPr algn="l">
              <a:lnSpc>
                <a:spcPct val="150000"/>
              </a:lnSpc>
              <a:spcAft>
                <a:spcPts val="600"/>
              </a:spcAft>
            </a:pPr>
            <a:r>
              <a:rPr sz="1200" b="1">
                <a:solidFill>
                  <a:srgbClr val="E0541B"/>
                </a:solidFill>
                <a:latin typeface="Inter"/>
              </a:rPr>
              <a:t>4.  </a:t>
            </a:r>
            <a:r>
              <a:rPr sz="1200">
                <a:solidFill>
                  <a:srgbClr val="1A1C18"/>
                </a:solidFill>
                <a:latin typeface="Inter"/>
              </a:rPr>
              <a:t>Uniquement ce que vous faites vraiment, sinon Google declasse votre fiche</a:t>
            </a:r>
          </a:p>
          <a:p>
            <a:pPr algn="l">
              <a:lnSpc>
                <a:spcPct val="150000"/>
              </a:lnSpc>
              <a:spcAft>
                <a:spcPts val="600"/>
              </a:spcAft>
            </a:pPr>
            <a:r>
              <a:rPr sz="1200" b="1">
                <a:solidFill>
                  <a:srgbClr val="E0541B"/>
                </a:solidFill>
                <a:latin typeface="Inter"/>
              </a:rPr>
              <a:t>5.  </a:t>
            </a:r>
            <a:r>
              <a:rPr sz="1200">
                <a:solidFill>
                  <a:srgbClr val="1A1C18"/>
                </a:solidFill>
                <a:latin typeface="Inter"/>
              </a:rPr>
              <a:t>Sauvegardez</a:t>
            </a:r>
          </a:p>
        </p:txBody>
      </p:sp>
      <p:sp>
        <p:nvSpPr>
          <p:cNvPr id="10" name="Rectangle 9"/>
          <p:cNvSpPr/>
          <p:nvPr/>
        </p:nvSpPr>
        <p:spPr>
          <a:xfrm>
            <a:off x="640080" y="5852160"/>
            <a:ext cx="256032" cy="256032"/>
          </a:xfrm>
          <a:prstGeom prst="rect">
            <a:avLst/>
          </a:prstGeom>
          <a:solidFill>
            <a:srgbClr val="F3F2EE"/>
          </a:solidFill>
          <a:ln w="15240">
            <a:solidFill>
              <a:srgbClr val="1A1C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5815584"/>
            <a:ext cx="1828800" cy="365760"/>
          </a:xfrm>
          <a:prstGeom prst="rect">
            <a:avLst/>
          </a:prstGeom>
          <a:noFill/>
        </p:spPr>
        <p:txBody>
          <a:bodyPr wrap="square" lIns="0" rIns="0" tIns="0" bIns="0" anchor="t">
            <a:spAutoFit/>
          </a:bodyPr>
          <a:lstStyle/>
          <a:p>
            <a:pPr algn="l">
              <a:lnSpc>
                <a:spcPct val="120000"/>
              </a:lnSpc>
            </a:pPr>
            <a:r>
              <a:rPr sz="1200" b="0">
                <a:solidFill>
                  <a:srgbClr val="1A1C18"/>
                </a:solidFill>
                <a:latin typeface="Inter"/>
              </a:rPr>
              <a:t>Fait</a:t>
            </a:r>
          </a:p>
        </p:txBody>
      </p:sp>
      <p:sp>
        <p:nvSpPr>
          <p:cNvPr id="12" name="Rectangle 11"/>
          <p:cNvSpPr/>
          <p:nvPr/>
        </p:nvSpPr>
        <p:spPr>
          <a:xfrm>
            <a:off x="6995160" y="5806440"/>
            <a:ext cx="4572000" cy="502920"/>
          </a:xfrm>
          <a:prstGeom prst="rect">
            <a:avLst/>
          </a:prstGeom>
          <a:solidFill>
            <a:srgbClr val="EBE7DC"/>
          </a:solidFill>
          <a:ln w="6350">
            <a:solidFill>
              <a:srgbClr val="D5D2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95160" y="5806440"/>
            <a:ext cx="4572000" cy="502920"/>
          </a:xfrm>
          <a:prstGeom prst="rect">
            <a:avLst/>
          </a:prstGeom>
          <a:noFill/>
        </p:spPr>
        <p:txBody>
          <a:bodyPr wrap="square" lIns="0" rIns="0" tIns="0" bIns="0" anchor="ctr">
            <a:spAutoFit/>
          </a:bodyPr>
          <a:lstStyle/>
          <a:p>
            <a:pPr algn="ctr">
              <a:lnSpc>
                <a:spcPct val="150000"/>
              </a:lnSpc>
            </a:pPr>
            <a:r>
              <a:rPr sz="1000" b="0">
                <a:solidFill>
                  <a:srgbClr val="5A5D56"/>
                </a:solidFill>
                <a:latin typeface="Roboto Mono"/>
              </a:rPr>
              <a:t>⎘   CAPTURE À INSERER
Liste des categories secondaires - GBP</a:t>
            </a:r>
          </a:p>
        </p:txBody>
      </p:sp>
      <p:sp>
        <p:nvSpPr>
          <p:cNvPr id="14" name="TextBox 13"/>
          <p:cNvSpPr txBox="1"/>
          <p:nvPr/>
        </p:nvSpPr>
        <p:spPr>
          <a:xfrm>
            <a:off x="640080" y="6446520"/>
            <a:ext cx="6400800" cy="274320"/>
          </a:xfrm>
          <a:prstGeom prst="rect">
            <a:avLst/>
          </a:prstGeom>
          <a:noFill/>
        </p:spPr>
        <p:txBody>
          <a:bodyPr wrap="square" lIns="0" rIns="0" tIns="0" bIns="0" anchor="t">
            <a:spAutoFit/>
          </a:bodyPr>
          <a:lstStyle/>
          <a:p>
            <a:pPr algn="l">
              <a:lnSpc>
                <a:spcPct val="120000"/>
              </a:lnSpc>
            </a:pPr>
            <a:r>
              <a:rPr sz="800" b="0">
                <a:solidFill>
                  <a:srgbClr val="5A5D56"/>
                </a:solidFill>
                <a:latin typeface="Roboto Mono"/>
              </a:rPr>
              <a:t>CARNET PLEIN® BY MAD MAKERS  ·  BONUS #1 · FICHE GOOGLE PARFAITE</a:t>
            </a:r>
          </a:p>
        </p:txBody>
      </p:sp>
      <p:sp>
        <p:nvSpPr>
          <p:cNvPr id="15" name="TextBox 14"/>
          <p:cNvSpPr txBox="1"/>
          <p:nvPr/>
        </p:nvSpPr>
        <p:spPr>
          <a:xfrm>
            <a:off x="10607040" y="6446520"/>
            <a:ext cx="1005840" cy="274320"/>
          </a:xfrm>
          <a:prstGeom prst="rect">
            <a:avLst/>
          </a:prstGeom>
          <a:noFill/>
        </p:spPr>
        <p:txBody>
          <a:bodyPr wrap="square" lIns="0" rIns="0" tIns="0" bIns="0" anchor="t">
            <a:spAutoFit/>
          </a:bodyPr>
          <a:lstStyle/>
          <a:p>
            <a:pPr algn="r">
              <a:lnSpc>
                <a:spcPct val="120000"/>
              </a:lnSpc>
            </a:pPr>
            <a:r>
              <a:rPr sz="800" b="0">
                <a:solidFill>
                  <a:srgbClr val="5A5D56"/>
                </a:solidFill>
                <a:latin typeface="Roboto Mono"/>
              </a:rPr>
              <a:t>04 / 18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371600" cy="365760"/>
          </a:xfrm>
          <a:prstGeom prst="rect">
            <a:avLst/>
          </a:prstGeom>
          <a:noFill/>
        </p:spPr>
        <p:txBody>
          <a:bodyPr wrap="square" lIns="0" rIns="0" tIns="0" bIns="0" anchor="t">
            <a:spAutoFit/>
          </a:bodyPr>
          <a:lstStyle/>
          <a:p>
            <a:pPr algn="l">
              <a:lnSpc>
                <a:spcPct val="120000"/>
              </a:lnSpc>
            </a:pPr>
            <a:r>
              <a:rPr sz="1200" b="1">
                <a:solidFill>
                  <a:srgbClr val="E0541B"/>
                </a:solidFill>
                <a:latin typeface="Roboto Mono"/>
              </a:rPr>
              <a:t>03 / 12</a:t>
            </a:r>
          </a:p>
        </p:txBody>
      </p:sp>
      <p:sp>
        <p:nvSpPr>
          <p:cNvPr id="4" name="TextBox 3"/>
          <p:cNvSpPr txBox="1"/>
          <p:nvPr/>
        </p:nvSpPr>
        <p:spPr>
          <a:xfrm>
            <a:off x="640080" y="914400"/>
            <a:ext cx="10515600" cy="914400"/>
          </a:xfrm>
          <a:prstGeom prst="rect">
            <a:avLst/>
          </a:prstGeom>
          <a:noFill/>
        </p:spPr>
        <p:txBody>
          <a:bodyPr wrap="square" lIns="0" rIns="0" tIns="0" bIns="0" anchor="t">
            <a:spAutoFit/>
          </a:bodyPr>
          <a:lstStyle/>
          <a:p>
            <a:pPr algn="l">
              <a:lnSpc>
                <a:spcPct val="110000"/>
              </a:lnSpc>
            </a:pPr>
            <a:r>
              <a:rPr sz="3200" b="1">
                <a:solidFill>
                  <a:srgbClr val="0A0A0A"/>
                </a:solidFill>
                <a:latin typeface="Inter"/>
              </a:rPr>
              <a:t>Ecrire une description avec vos vrais mots-cles</a:t>
            </a:r>
          </a:p>
        </p:txBody>
      </p:sp>
      <p:sp>
        <p:nvSpPr>
          <p:cNvPr id="5" name="Rectangle 4"/>
          <p:cNvSpPr/>
          <p:nvPr/>
        </p:nvSpPr>
        <p:spPr>
          <a:xfrm>
            <a:off x="640080" y="1920240"/>
            <a:ext cx="457200" cy="36576"/>
          </a:xfrm>
          <a:prstGeom prst="rect">
            <a:avLst/>
          </a:prstGeom>
          <a:solidFill>
            <a:srgbClr val="E054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286000"/>
            <a:ext cx="5303520" cy="274320"/>
          </a:xfrm>
          <a:prstGeom prst="rect">
            <a:avLst/>
          </a:prstGeom>
          <a:noFill/>
        </p:spPr>
        <p:txBody>
          <a:bodyPr wrap="square" lIns="0" rIns="0" tIns="0" bIns="0" anchor="t">
            <a:spAutoFit/>
          </a:bodyPr>
          <a:lstStyle/>
          <a:p>
            <a:pPr algn="l">
              <a:lnSpc>
                <a:spcPct val="120000"/>
              </a:lnSpc>
            </a:pPr>
            <a:r>
              <a:rPr sz="1000" b="1">
                <a:solidFill>
                  <a:srgbClr val="E0541B"/>
                </a:solidFill>
                <a:latin typeface="Roboto Mono"/>
              </a:rPr>
              <a:t>POURQUOI C'EST IMPORTANT</a:t>
            </a:r>
          </a:p>
        </p:txBody>
      </p:sp>
      <p:sp>
        <p:nvSpPr>
          <p:cNvPr id="7" name="TextBox 6"/>
          <p:cNvSpPr txBox="1"/>
          <p:nvPr/>
        </p:nvSpPr>
        <p:spPr>
          <a:xfrm>
            <a:off x="640080" y="2697480"/>
            <a:ext cx="5303520" cy="2743200"/>
          </a:xfrm>
          <a:prstGeom prst="rect">
            <a:avLst/>
          </a:prstGeom>
          <a:noFill/>
        </p:spPr>
        <p:txBody>
          <a:bodyPr wrap="square" lIns="0" rIns="0" tIns="0" bIns="0" anchor="t">
            <a:spAutoFit/>
          </a:bodyPr>
          <a:lstStyle/>
          <a:p>
            <a:pPr algn="l">
              <a:lnSpc>
                <a:spcPct val="155000"/>
              </a:lnSpc>
            </a:pPr>
            <a:r>
              <a:rPr sz="1300" b="0">
                <a:solidFill>
                  <a:srgbClr val="1A1C18"/>
                </a:solidFill>
                <a:latin typeface="Inter"/>
              </a:rPr>
              <a:t>Google lit votre description. Si vous y mettez « plombier-chauffagiste a Compiegne, specialiste pompe a chaleur et MaPrimeRenov », Google sait sur quoi vous faire ressortir. 750 caracteres maximum, seuls les 250 premiers sont visibles avant le Voir plus. Concentrez-y l'essentiel.</a:t>
            </a:r>
          </a:p>
        </p:txBody>
      </p:sp>
      <p:sp>
        <p:nvSpPr>
          <p:cNvPr id="8" name="TextBox 7"/>
          <p:cNvSpPr txBox="1"/>
          <p:nvPr/>
        </p:nvSpPr>
        <p:spPr>
          <a:xfrm>
            <a:off x="6263640" y="2286000"/>
            <a:ext cx="5303520" cy="274320"/>
          </a:xfrm>
          <a:prstGeom prst="rect">
            <a:avLst/>
          </a:prstGeom>
          <a:noFill/>
        </p:spPr>
        <p:txBody>
          <a:bodyPr wrap="square" lIns="0" rIns="0" tIns="0" bIns="0" anchor="t">
            <a:spAutoFit/>
          </a:bodyPr>
          <a:lstStyle/>
          <a:p>
            <a:pPr algn="l">
              <a:lnSpc>
                <a:spcPct val="120000"/>
              </a:lnSpc>
            </a:pPr>
            <a:r>
              <a:rPr sz="1000" b="1">
                <a:solidFill>
                  <a:srgbClr val="E0541B"/>
                </a:solidFill>
                <a:latin typeface="Roboto Mono"/>
              </a:rPr>
              <a:t>ACTION CONCRETE</a:t>
            </a:r>
          </a:p>
        </p:txBody>
      </p:sp>
      <p:sp>
        <p:nvSpPr>
          <p:cNvPr id="9" name="TextBox 8"/>
          <p:cNvSpPr txBox="1"/>
          <p:nvPr/>
        </p:nvSpPr>
        <p:spPr>
          <a:xfrm>
            <a:off x="6263640" y="2697480"/>
            <a:ext cx="5303520" cy="3200400"/>
          </a:xfrm>
          <a:prstGeom prst="rect">
            <a:avLst/>
          </a:prstGeom>
          <a:noFill/>
        </p:spPr>
        <p:txBody>
          <a:bodyPr wrap="square" lIns="0" rIns="0" tIns="0" bIns="0">
            <a:spAutoFit/>
          </a:bodyPr>
          <a:lstStyle/>
          <a:p>
            <a:pPr algn="l">
              <a:lnSpc>
                <a:spcPct val="150000"/>
              </a:lnSpc>
              <a:spcAft>
                <a:spcPts val="600"/>
              </a:spcAft>
            </a:pPr>
            <a:r>
              <a:rPr sz="1200" b="1">
                <a:solidFill>
                  <a:srgbClr val="E0541B"/>
                </a:solidFill>
                <a:latin typeface="Inter"/>
              </a:rPr>
              <a:t>1.  </a:t>
            </a:r>
            <a:r>
              <a:rPr sz="1200">
                <a:solidFill>
                  <a:srgbClr val="1A1C18"/>
                </a:solidFill>
                <a:latin typeface="Inter"/>
              </a:rPr>
              <a:t>Modifier le profil &gt; A propos &gt; Description</a:t>
            </a:r>
          </a:p>
          <a:p>
            <a:pPr algn="l">
              <a:lnSpc>
                <a:spcPct val="150000"/>
              </a:lnSpc>
              <a:spcAft>
                <a:spcPts val="600"/>
              </a:spcAft>
            </a:pPr>
            <a:r>
              <a:rPr sz="1200" b="1">
                <a:solidFill>
                  <a:srgbClr val="E0541B"/>
                </a:solidFill>
                <a:latin typeface="Inter"/>
              </a:rPr>
              <a:t>2.  </a:t>
            </a:r>
            <a:r>
              <a:rPr sz="1200">
                <a:solidFill>
                  <a:srgbClr val="1A1C18"/>
                </a:solidFill>
                <a:latin typeface="Inter"/>
              </a:rPr>
              <a:t>Premiers 250 caracteres : metier + ville principale + 1-2 specialites fortes</a:t>
            </a:r>
          </a:p>
          <a:p>
            <a:pPr algn="l">
              <a:lnSpc>
                <a:spcPct val="150000"/>
              </a:lnSpc>
              <a:spcAft>
                <a:spcPts val="600"/>
              </a:spcAft>
            </a:pPr>
            <a:r>
              <a:rPr sz="1200" b="1">
                <a:solidFill>
                  <a:srgbClr val="E0541B"/>
                </a:solidFill>
                <a:latin typeface="Inter"/>
              </a:rPr>
              <a:t>3.  </a:t>
            </a:r>
            <a:r>
              <a:rPr sz="1200">
                <a:solidFill>
                  <a:srgbClr val="1A1C18"/>
                </a:solidFill>
                <a:latin typeface="Inter"/>
              </a:rPr>
              <a:t>Suite : zone d'intervention + certifications + offre devis</a:t>
            </a:r>
          </a:p>
          <a:p>
            <a:pPr algn="l">
              <a:lnSpc>
                <a:spcPct val="150000"/>
              </a:lnSpc>
              <a:spcAft>
                <a:spcPts val="600"/>
              </a:spcAft>
            </a:pPr>
            <a:r>
              <a:rPr sz="1200" b="1">
                <a:solidFill>
                  <a:srgbClr val="E0541B"/>
                </a:solidFill>
                <a:latin typeface="Inter"/>
              </a:rPr>
              <a:t>4.  </a:t>
            </a:r>
            <a:r>
              <a:rPr sz="1200">
                <a:solidFill>
                  <a:srgbClr val="1A1C18"/>
                </a:solidFill>
                <a:latin typeface="Inter"/>
              </a:rPr>
              <a:t>Exemple : Plombier-chauffagiste a Reims, specialiste pompes a chaleur. Entreprise RGE QualiPAC...</a:t>
            </a:r>
          </a:p>
          <a:p>
            <a:pPr algn="l">
              <a:lnSpc>
                <a:spcPct val="150000"/>
              </a:lnSpc>
              <a:spcAft>
                <a:spcPts val="600"/>
              </a:spcAft>
            </a:pPr>
            <a:r>
              <a:rPr sz="1200" b="1">
                <a:solidFill>
                  <a:srgbClr val="E0541B"/>
                </a:solidFill>
                <a:latin typeface="Inter"/>
              </a:rPr>
              <a:t>5.  </a:t>
            </a:r>
            <a:r>
              <a:rPr sz="1200">
                <a:solidFill>
                  <a:srgbClr val="1A1C18"/>
                </a:solidFill>
                <a:latin typeface="Inter"/>
              </a:rPr>
              <a:t>Pas de superlatifs (le meilleur, n°1). Restez factuel</a:t>
            </a:r>
          </a:p>
        </p:txBody>
      </p:sp>
      <p:sp>
        <p:nvSpPr>
          <p:cNvPr id="10" name="Rectangle 9"/>
          <p:cNvSpPr/>
          <p:nvPr/>
        </p:nvSpPr>
        <p:spPr>
          <a:xfrm>
            <a:off x="640080" y="5852160"/>
            <a:ext cx="256032" cy="256032"/>
          </a:xfrm>
          <a:prstGeom prst="rect">
            <a:avLst/>
          </a:prstGeom>
          <a:solidFill>
            <a:srgbClr val="F3F2EE"/>
          </a:solidFill>
          <a:ln w="15240">
            <a:solidFill>
              <a:srgbClr val="1A1C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5815584"/>
            <a:ext cx="1828800" cy="365760"/>
          </a:xfrm>
          <a:prstGeom prst="rect">
            <a:avLst/>
          </a:prstGeom>
          <a:noFill/>
        </p:spPr>
        <p:txBody>
          <a:bodyPr wrap="square" lIns="0" rIns="0" tIns="0" bIns="0" anchor="t">
            <a:spAutoFit/>
          </a:bodyPr>
          <a:lstStyle/>
          <a:p>
            <a:pPr algn="l">
              <a:lnSpc>
                <a:spcPct val="120000"/>
              </a:lnSpc>
            </a:pPr>
            <a:r>
              <a:rPr sz="1200" b="0">
                <a:solidFill>
                  <a:srgbClr val="1A1C18"/>
                </a:solidFill>
                <a:latin typeface="Inter"/>
              </a:rPr>
              <a:t>Fait</a:t>
            </a:r>
          </a:p>
        </p:txBody>
      </p:sp>
      <p:sp>
        <p:nvSpPr>
          <p:cNvPr id="12" name="Rectangle 11"/>
          <p:cNvSpPr/>
          <p:nvPr/>
        </p:nvSpPr>
        <p:spPr>
          <a:xfrm>
            <a:off x="6995160" y="5806440"/>
            <a:ext cx="4572000" cy="502920"/>
          </a:xfrm>
          <a:prstGeom prst="rect">
            <a:avLst/>
          </a:prstGeom>
          <a:solidFill>
            <a:srgbClr val="EBE7DC"/>
          </a:solidFill>
          <a:ln w="6350">
            <a:solidFill>
              <a:srgbClr val="D5D2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95160" y="5806440"/>
            <a:ext cx="4572000" cy="502920"/>
          </a:xfrm>
          <a:prstGeom prst="rect">
            <a:avLst/>
          </a:prstGeom>
          <a:noFill/>
        </p:spPr>
        <p:txBody>
          <a:bodyPr wrap="square" lIns="0" rIns="0" tIns="0" bIns="0" anchor="ctr">
            <a:spAutoFit/>
          </a:bodyPr>
          <a:lstStyle/>
          <a:p>
            <a:pPr algn="ctr">
              <a:lnSpc>
                <a:spcPct val="150000"/>
              </a:lnSpc>
            </a:pPr>
            <a:r>
              <a:rPr sz="1000" b="0">
                <a:solidFill>
                  <a:srgbClr val="5A5D56"/>
                </a:solidFill>
                <a:latin typeface="Roboto Mono"/>
              </a:rPr>
              <a:t>⎘   CAPTURE À INSERER
Editeur de Description - GBP</a:t>
            </a:r>
          </a:p>
        </p:txBody>
      </p:sp>
      <p:sp>
        <p:nvSpPr>
          <p:cNvPr id="14" name="TextBox 13"/>
          <p:cNvSpPr txBox="1"/>
          <p:nvPr/>
        </p:nvSpPr>
        <p:spPr>
          <a:xfrm>
            <a:off x="640080" y="6446520"/>
            <a:ext cx="6400800" cy="274320"/>
          </a:xfrm>
          <a:prstGeom prst="rect">
            <a:avLst/>
          </a:prstGeom>
          <a:noFill/>
        </p:spPr>
        <p:txBody>
          <a:bodyPr wrap="square" lIns="0" rIns="0" tIns="0" bIns="0" anchor="t">
            <a:spAutoFit/>
          </a:bodyPr>
          <a:lstStyle/>
          <a:p>
            <a:pPr algn="l">
              <a:lnSpc>
                <a:spcPct val="120000"/>
              </a:lnSpc>
            </a:pPr>
            <a:r>
              <a:rPr sz="800" b="0">
                <a:solidFill>
                  <a:srgbClr val="5A5D56"/>
                </a:solidFill>
                <a:latin typeface="Roboto Mono"/>
              </a:rPr>
              <a:t>CARNET PLEIN® BY MAD MAKERS  ·  BONUS #1 · FICHE GOOGLE PARFAITE</a:t>
            </a:r>
          </a:p>
        </p:txBody>
      </p:sp>
      <p:sp>
        <p:nvSpPr>
          <p:cNvPr id="15" name="TextBox 14"/>
          <p:cNvSpPr txBox="1"/>
          <p:nvPr/>
        </p:nvSpPr>
        <p:spPr>
          <a:xfrm>
            <a:off x="10607040" y="6446520"/>
            <a:ext cx="1005840" cy="274320"/>
          </a:xfrm>
          <a:prstGeom prst="rect">
            <a:avLst/>
          </a:prstGeom>
          <a:noFill/>
        </p:spPr>
        <p:txBody>
          <a:bodyPr wrap="square" lIns="0" rIns="0" tIns="0" bIns="0" anchor="t">
            <a:spAutoFit/>
          </a:bodyPr>
          <a:lstStyle/>
          <a:p>
            <a:pPr algn="r">
              <a:lnSpc>
                <a:spcPct val="120000"/>
              </a:lnSpc>
            </a:pPr>
            <a:r>
              <a:rPr sz="800" b="0">
                <a:solidFill>
                  <a:srgbClr val="5A5D56"/>
                </a:solidFill>
                <a:latin typeface="Roboto Mono"/>
              </a:rPr>
              <a:t>05 / 18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371600" cy="365760"/>
          </a:xfrm>
          <a:prstGeom prst="rect">
            <a:avLst/>
          </a:prstGeom>
          <a:noFill/>
        </p:spPr>
        <p:txBody>
          <a:bodyPr wrap="square" lIns="0" rIns="0" tIns="0" bIns="0" anchor="t">
            <a:spAutoFit/>
          </a:bodyPr>
          <a:lstStyle/>
          <a:p>
            <a:pPr algn="l">
              <a:lnSpc>
                <a:spcPct val="120000"/>
              </a:lnSpc>
            </a:pPr>
            <a:r>
              <a:rPr sz="1200" b="1">
                <a:solidFill>
                  <a:srgbClr val="E0541B"/>
                </a:solidFill>
                <a:latin typeface="Roboto Mono"/>
              </a:rPr>
              <a:t>04 / 12</a:t>
            </a:r>
          </a:p>
        </p:txBody>
      </p:sp>
      <p:sp>
        <p:nvSpPr>
          <p:cNvPr id="4" name="TextBox 3"/>
          <p:cNvSpPr txBox="1"/>
          <p:nvPr/>
        </p:nvSpPr>
        <p:spPr>
          <a:xfrm>
            <a:off x="640080" y="914400"/>
            <a:ext cx="10515600" cy="914400"/>
          </a:xfrm>
          <a:prstGeom prst="rect">
            <a:avLst/>
          </a:prstGeom>
          <a:noFill/>
        </p:spPr>
        <p:txBody>
          <a:bodyPr wrap="square" lIns="0" rIns="0" tIns="0" bIns="0" anchor="t">
            <a:spAutoFit/>
          </a:bodyPr>
          <a:lstStyle/>
          <a:p>
            <a:pPr algn="l">
              <a:lnSpc>
                <a:spcPct val="110000"/>
              </a:lnSpc>
            </a:pPr>
            <a:r>
              <a:rPr sz="3200" b="1">
                <a:solidFill>
                  <a:srgbClr val="0A0A0A"/>
                </a:solidFill>
                <a:latin typeface="Inter"/>
              </a:rPr>
              <a:t>Charger un maximum de photos, rangees par type</a:t>
            </a:r>
          </a:p>
        </p:txBody>
      </p:sp>
      <p:sp>
        <p:nvSpPr>
          <p:cNvPr id="5" name="Rectangle 4"/>
          <p:cNvSpPr/>
          <p:nvPr/>
        </p:nvSpPr>
        <p:spPr>
          <a:xfrm>
            <a:off x="640080" y="1920240"/>
            <a:ext cx="457200" cy="36576"/>
          </a:xfrm>
          <a:prstGeom prst="rect">
            <a:avLst/>
          </a:prstGeom>
          <a:solidFill>
            <a:srgbClr val="E054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286000"/>
            <a:ext cx="5303520" cy="274320"/>
          </a:xfrm>
          <a:prstGeom prst="rect">
            <a:avLst/>
          </a:prstGeom>
          <a:noFill/>
        </p:spPr>
        <p:txBody>
          <a:bodyPr wrap="square" lIns="0" rIns="0" tIns="0" bIns="0" anchor="t">
            <a:spAutoFit/>
          </a:bodyPr>
          <a:lstStyle/>
          <a:p>
            <a:pPr algn="l">
              <a:lnSpc>
                <a:spcPct val="120000"/>
              </a:lnSpc>
            </a:pPr>
            <a:r>
              <a:rPr sz="1000" b="1">
                <a:solidFill>
                  <a:srgbClr val="E0541B"/>
                </a:solidFill>
                <a:latin typeface="Roboto Mono"/>
              </a:rPr>
              <a:t>POURQUOI C'EST IMPORTANT</a:t>
            </a:r>
          </a:p>
        </p:txBody>
      </p:sp>
      <p:sp>
        <p:nvSpPr>
          <p:cNvPr id="7" name="TextBox 6"/>
          <p:cNvSpPr txBox="1"/>
          <p:nvPr/>
        </p:nvSpPr>
        <p:spPr>
          <a:xfrm>
            <a:off x="640080" y="2697480"/>
            <a:ext cx="5303520" cy="2743200"/>
          </a:xfrm>
          <a:prstGeom prst="rect">
            <a:avLst/>
          </a:prstGeom>
          <a:noFill/>
        </p:spPr>
        <p:txBody>
          <a:bodyPr wrap="square" lIns="0" rIns="0" tIns="0" bIns="0" anchor="t">
            <a:spAutoFit/>
          </a:bodyPr>
          <a:lstStyle/>
          <a:p>
            <a:pPr algn="l">
              <a:lnSpc>
                <a:spcPct val="155000"/>
              </a:lnSpc>
            </a:pPr>
            <a:r>
              <a:rPr sz="1300" b="0">
                <a:solidFill>
                  <a:srgbClr val="1A1C18"/>
                </a:solidFill>
                <a:latin typeface="Inter"/>
              </a:rPr>
              <a:t>Les photos generent 30 a 50% de vues en plus et nourrissent les signaux d'engagement (clics, appels, demandes d'itineraire) que Google utilise pour mesurer la popularite. La moyenne secteur plomberie en France : 70 photos par fiche. Top 3 : 100+. Visez 30 minimum pour demarrer, 70 pour la cible.</a:t>
            </a:r>
          </a:p>
        </p:txBody>
      </p:sp>
      <p:sp>
        <p:nvSpPr>
          <p:cNvPr id="8" name="TextBox 7"/>
          <p:cNvSpPr txBox="1"/>
          <p:nvPr/>
        </p:nvSpPr>
        <p:spPr>
          <a:xfrm>
            <a:off x="6263640" y="2286000"/>
            <a:ext cx="5303520" cy="274320"/>
          </a:xfrm>
          <a:prstGeom prst="rect">
            <a:avLst/>
          </a:prstGeom>
          <a:noFill/>
        </p:spPr>
        <p:txBody>
          <a:bodyPr wrap="square" lIns="0" rIns="0" tIns="0" bIns="0" anchor="t">
            <a:spAutoFit/>
          </a:bodyPr>
          <a:lstStyle/>
          <a:p>
            <a:pPr algn="l">
              <a:lnSpc>
                <a:spcPct val="120000"/>
              </a:lnSpc>
            </a:pPr>
            <a:r>
              <a:rPr sz="1000" b="1">
                <a:solidFill>
                  <a:srgbClr val="E0541B"/>
                </a:solidFill>
                <a:latin typeface="Roboto Mono"/>
              </a:rPr>
              <a:t>ACTION CONCRETE</a:t>
            </a:r>
          </a:p>
        </p:txBody>
      </p:sp>
      <p:sp>
        <p:nvSpPr>
          <p:cNvPr id="9" name="TextBox 8"/>
          <p:cNvSpPr txBox="1"/>
          <p:nvPr/>
        </p:nvSpPr>
        <p:spPr>
          <a:xfrm>
            <a:off x="6263640" y="2697480"/>
            <a:ext cx="5303520" cy="3200400"/>
          </a:xfrm>
          <a:prstGeom prst="rect">
            <a:avLst/>
          </a:prstGeom>
          <a:noFill/>
        </p:spPr>
        <p:txBody>
          <a:bodyPr wrap="square" lIns="0" rIns="0" tIns="0" bIns="0">
            <a:spAutoFit/>
          </a:bodyPr>
          <a:lstStyle/>
          <a:p>
            <a:pPr algn="l">
              <a:lnSpc>
                <a:spcPct val="150000"/>
              </a:lnSpc>
              <a:spcAft>
                <a:spcPts val="600"/>
              </a:spcAft>
            </a:pPr>
            <a:r>
              <a:rPr sz="1200" b="1">
                <a:solidFill>
                  <a:srgbClr val="E0541B"/>
                </a:solidFill>
                <a:latin typeface="Inter"/>
              </a:rPr>
              <a:t>1.  </a:t>
            </a:r>
            <a:r>
              <a:rPr sz="1200">
                <a:solidFill>
                  <a:srgbClr val="1A1C18"/>
                </a:solidFill>
                <a:latin typeface="Inter"/>
              </a:rPr>
              <a:t>Modifier le profil &gt; Photos</a:t>
            </a:r>
          </a:p>
          <a:p>
            <a:pPr algn="l">
              <a:lnSpc>
                <a:spcPct val="150000"/>
              </a:lnSpc>
              <a:spcAft>
                <a:spcPts val="600"/>
              </a:spcAft>
            </a:pPr>
            <a:r>
              <a:rPr sz="1200" b="1">
                <a:solidFill>
                  <a:srgbClr val="E0541B"/>
                </a:solidFill>
                <a:latin typeface="Inter"/>
              </a:rPr>
              <a:t>2.  </a:t>
            </a:r>
            <a:r>
              <a:rPr sz="1200">
                <a:solidFill>
                  <a:srgbClr val="1A1C18"/>
                </a:solidFill>
                <a:latin typeface="Inter"/>
              </a:rPr>
              <a:t>1 logo carre + 1 photo de couverture (camion ou equipe)</a:t>
            </a:r>
          </a:p>
          <a:p>
            <a:pPr algn="l">
              <a:lnSpc>
                <a:spcPct val="150000"/>
              </a:lnSpc>
              <a:spcAft>
                <a:spcPts val="600"/>
              </a:spcAft>
            </a:pPr>
            <a:r>
              <a:rPr sz="1200" b="1">
                <a:solidFill>
                  <a:srgbClr val="E0541B"/>
                </a:solidFill>
                <a:latin typeface="Inter"/>
              </a:rPr>
              <a:t>3.  </a:t>
            </a:r>
            <a:r>
              <a:rPr sz="1200">
                <a:solidFill>
                  <a:srgbClr val="1A1C18"/>
                </a:solidFill>
                <a:latin typeface="Inter"/>
              </a:rPr>
              <a:t>5-10 photos de l'equipe, 3-5 du vehicule floque, 15-25 chantiers terminés</a:t>
            </a:r>
          </a:p>
          <a:p>
            <a:pPr algn="l">
              <a:lnSpc>
                <a:spcPct val="150000"/>
              </a:lnSpc>
              <a:spcAft>
                <a:spcPts val="600"/>
              </a:spcAft>
            </a:pPr>
            <a:r>
              <a:rPr sz="1200" b="1">
                <a:solidFill>
                  <a:srgbClr val="E0541B"/>
                </a:solidFill>
                <a:latin typeface="Inter"/>
              </a:rPr>
              <a:t>4.  </a:t>
            </a:r>
            <a:r>
              <a:rPr sz="1200">
                <a:solidFill>
                  <a:srgbClr val="1A1C18"/>
                </a:solidFill>
                <a:latin typeface="Inter"/>
              </a:rPr>
              <a:t>10-15 installations propres : PAC, chaudiere, sanitaire</a:t>
            </a:r>
          </a:p>
          <a:p>
            <a:pPr algn="l">
              <a:lnSpc>
                <a:spcPct val="150000"/>
              </a:lnSpc>
              <a:spcAft>
                <a:spcPts val="600"/>
              </a:spcAft>
            </a:pPr>
            <a:r>
              <a:rPr sz="1200" b="1">
                <a:solidFill>
                  <a:srgbClr val="E0541B"/>
                </a:solidFill>
                <a:latin typeface="Inter"/>
              </a:rPr>
              <a:t>5.  </a:t>
            </a:r>
            <a:r>
              <a:rPr sz="1200">
                <a:solidFill>
                  <a:srgbClr val="1A1C18"/>
                </a:solidFill>
                <a:latin typeface="Inter"/>
              </a:rPr>
              <a:t>Ajoutez 2-5 photos chaque semaine. La fraicheur compte</a:t>
            </a:r>
          </a:p>
        </p:txBody>
      </p:sp>
      <p:sp>
        <p:nvSpPr>
          <p:cNvPr id="10" name="Rectangle 9"/>
          <p:cNvSpPr/>
          <p:nvPr/>
        </p:nvSpPr>
        <p:spPr>
          <a:xfrm>
            <a:off x="640080" y="5852160"/>
            <a:ext cx="256032" cy="256032"/>
          </a:xfrm>
          <a:prstGeom prst="rect">
            <a:avLst/>
          </a:prstGeom>
          <a:solidFill>
            <a:srgbClr val="F3F2EE"/>
          </a:solidFill>
          <a:ln w="15240">
            <a:solidFill>
              <a:srgbClr val="1A1C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5815584"/>
            <a:ext cx="1828800" cy="365760"/>
          </a:xfrm>
          <a:prstGeom prst="rect">
            <a:avLst/>
          </a:prstGeom>
          <a:noFill/>
        </p:spPr>
        <p:txBody>
          <a:bodyPr wrap="square" lIns="0" rIns="0" tIns="0" bIns="0" anchor="t">
            <a:spAutoFit/>
          </a:bodyPr>
          <a:lstStyle/>
          <a:p>
            <a:pPr algn="l">
              <a:lnSpc>
                <a:spcPct val="120000"/>
              </a:lnSpc>
            </a:pPr>
            <a:r>
              <a:rPr sz="1200" b="0">
                <a:solidFill>
                  <a:srgbClr val="1A1C18"/>
                </a:solidFill>
                <a:latin typeface="Inter"/>
              </a:rPr>
              <a:t>Fait</a:t>
            </a:r>
          </a:p>
        </p:txBody>
      </p:sp>
      <p:pic>
        <p:nvPicPr>
          <p:cNvPr id="12" name="Picture 11" descr="electrician-fixing.png"/>
          <p:cNvPicPr>
            <a:picLocks noChangeAspect="1"/>
          </p:cNvPicPr>
          <p:nvPr/>
        </p:nvPicPr>
        <p:blipFill>
          <a:blip r:embed="rId2"/>
          <a:stretch>
            <a:fillRect/>
          </a:stretch>
        </p:blipFill>
        <p:spPr>
          <a:xfrm>
            <a:off x="6995160" y="5806440"/>
            <a:ext cx="4572000" cy="502920"/>
          </a:xfrm>
          <a:prstGeom prst="rect">
            <a:avLst/>
          </a:prstGeom>
        </p:spPr>
      </p:pic>
      <p:sp>
        <p:nvSpPr>
          <p:cNvPr id="13" name="TextBox 12"/>
          <p:cNvSpPr txBox="1"/>
          <p:nvPr/>
        </p:nvSpPr>
        <p:spPr>
          <a:xfrm>
            <a:off x="640080" y="6446520"/>
            <a:ext cx="6400800" cy="274320"/>
          </a:xfrm>
          <a:prstGeom prst="rect">
            <a:avLst/>
          </a:prstGeom>
          <a:noFill/>
        </p:spPr>
        <p:txBody>
          <a:bodyPr wrap="square" lIns="0" rIns="0" tIns="0" bIns="0" anchor="t">
            <a:spAutoFit/>
          </a:bodyPr>
          <a:lstStyle/>
          <a:p>
            <a:pPr algn="l">
              <a:lnSpc>
                <a:spcPct val="120000"/>
              </a:lnSpc>
            </a:pPr>
            <a:r>
              <a:rPr sz="800" b="0">
                <a:solidFill>
                  <a:srgbClr val="5A5D56"/>
                </a:solidFill>
                <a:latin typeface="Roboto Mono"/>
              </a:rPr>
              <a:t>CARNET PLEIN® BY MAD MAKERS  ·  BONUS #1 · FICHE GOOGLE PARFAITE</a:t>
            </a:r>
          </a:p>
        </p:txBody>
      </p:sp>
      <p:sp>
        <p:nvSpPr>
          <p:cNvPr id="14" name="TextBox 13"/>
          <p:cNvSpPr txBox="1"/>
          <p:nvPr/>
        </p:nvSpPr>
        <p:spPr>
          <a:xfrm>
            <a:off x="10607040" y="6446520"/>
            <a:ext cx="1005840" cy="274320"/>
          </a:xfrm>
          <a:prstGeom prst="rect">
            <a:avLst/>
          </a:prstGeom>
          <a:noFill/>
        </p:spPr>
        <p:txBody>
          <a:bodyPr wrap="square" lIns="0" rIns="0" tIns="0" bIns="0" anchor="t">
            <a:spAutoFit/>
          </a:bodyPr>
          <a:lstStyle/>
          <a:p>
            <a:pPr algn="r">
              <a:lnSpc>
                <a:spcPct val="120000"/>
              </a:lnSpc>
            </a:pPr>
            <a:r>
              <a:rPr sz="800" b="0">
                <a:solidFill>
                  <a:srgbClr val="5A5D56"/>
                </a:solidFill>
                <a:latin typeface="Roboto Mono"/>
              </a:rPr>
              <a:t>06 / 18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371600" cy="365760"/>
          </a:xfrm>
          <a:prstGeom prst="rect">
            <a:avLst/>
          </a:prstGeom>
          <a:noFill/>
        </p:spPr>
        <p:txBody>
          <a:bodyPr wrap="square" lIns="0" rIns="0" tIns="0" bIns="0" anchor="t">
            <a:spAutoFit/>
          </a:bodyPr>
          <a:lstStyle/>
          <a:p>
            <a:pPr algn="l">
              <a:lnSpc>
                <a:spcPct val="120000"/>
              </a:lnSpc>
            </a:pPr>
            <a:r>
              <a:rPr sz="1200" b="1">
                <a:solidFill>
                  <a:srgbClr val="E0541B"/>
                </a:solidFill>
                <a:latin typeface="Roboto Mono"/>
              </a:rPr>
              <a:t>05 / 12</a:t>
            </a:r>
          </a:p>
        </p:txBody>
      </p:sp>
      <p:sp>
        <p:nvSpPr>
          <p:cNvPr id="4" name="TextBox 3"/>
          <p:cNvSpPr txBox="1"/>
          <p:nvPr/>
        </p:nvSpPr>
        <p:spPr>
          <a:xfrm>
            <a:off x="640080" y="914400"/>
            <a:ext cx="10515600" cy="914400"/>
          </a:xfrm>
          <a:prstGeom prst="rect">
            <a:avLst/>
          </a:prstGeom>
          <a:noFill/>
        </p:spPr>
        <p:txBody>
          <a:bodyPr wrap="square" lIns="0" rIns="0" tIns="0" bIns="0" anchor="t">
            <a:spAutoFit/>
          </a:bodyPr>
          <a:lstStyle/>
          <a:p>
            <a:pPr algn="l">
              <a:lnSpc>
                <a:spcPct val="110000"/>
              </a:lnSpc>
            </a:pPr>
            <a:r>
              <a:rPr sz="3200" b="1">
                <a:solidFill>
                  <a:srgbClr val="0A0A0A"/>
                </a:solidFill>
                <a:latin typeface="Inter"/>
              </a:rPr>
              <a:t>Verrouiller les horaires, y compris jours feries</a:t>
            </a:r>
          </a:p>
        </p:txBody>
      </p:sp>
      <p:sp>
        <p:nvSpPr>
          <p:cNvPr id="5" name="Rectangle 4"/>
          <p:cNvSpPr/>
          <p:nvPr/>
        </p:nvSpPr>
        <p:spPr>
          <a:xfrm>
            <a:off x="640080" y="1920240"/>
            <a:ext cx="457200" cy="36576"/>
          </a:xfrm>
          <a:prstGeom prst="rect">
            <a:avLst/>
          </a:prstGeom>
          <a:solidFill>
            <a:srgbClr val="E054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286000"/>
            <a:ext cx="5303520" cy="274320"/>
          </a:xfrm>
          <a:prstGeom prst="rect">
            <a:avLst/>
          </a:prstGeom>
          <a:noFill/>
        </p:spPr>
        <p:txBody>
          <a:bodyPr wrap="square" lIns="0" rIns="0" tIns="0" bIns="0" anchor="t">
            <a:spAutoFit/>
          </a:bodyPr>
          <a:lstStyle/>
          <a:p>
            <a:pPr algn="l">
              <a:lnSpc>
                <a:spcPct val="120000"/>
              </a:lnSpc>
            </a:pPr>
            <a:r>
              <a:rPr sz="1000" b="1">
                <a:solidFill>
                  <a:srgbClr val="E0541B"/>
                </a:solidFill>
                <a:latin typeface="Roboto Mono"/>
              </a:rPr>
              <a:t>POURQUOI C'EST IMPORTANT</a:t>
            </a:r>
          </a:p>
        </p:txBody>
      </p:sp>
      <p:sp>
        <p:nvSpPr>
          <p:cNvPr id="7" name="TextBox 6"/>
          <p:cNvSpPr txBox="1"/>
          <p:nvPr/>
        </p:nvSpPr>
        <p:spPr>
          <a:xfrm>
            <a:off x="640080" y="2697480"/>
            <a:ext cx="5303520" cy="2743200"/>
          </a:xfrm>
          <a:prstGeom prst="rect">
            <a:avLst/>
          </a:prstGeom>
          <a:noFill/>
        </p:spPr>
        <p:txBody>
          <a:bodyPr wrap="square" lIns="0" rIns="0" tIns="0" bIns="0" anchor="t">
            <a:spAutoFit/>
          </a:bodyPr>
          <a:lstStyle/>
          <a:p>
            <a:pPr algn="l">
              <a:lnSpc>
                <a:spcPct val="155000"/>
              </a:lnSpc>
            </a:pPr>
            <a:r>
              <a:rPr sz="1300" b="0">
                <a:solidFill>
                  <a:srgbClr val="1A1C18"/>
                </a:solidFill>
                <a:latin typeface="Inter"/>
              </a:rPr>
              <a:t>Une fiche aux horaires obsoletes sort automatiquement des recherches filtrees « Ouvert maintenant ». Pire : un client qui se deplace pour vous trouver ferme un 1er mai laisse un avis 1 etoile en rentrant. Et un avis 1 etoile efface 10 avis 5 etoiles chez le prospect suivant.</a:t>
            </a:r>
          </a:p>
        </p:txBody>
      </p:sp>
      <p:sp>
        <p:nvSpPr>
          <p:cNvPr id="8" name="TextBox 7"/>
          <p:cNvSpPr txBox="1"/>
          <p:nvPr/>
        </p:nvSpPr>
        <p:spPr>
          <a:xfrm>
            <a:off x="6263640" y="2286000"/>
            <a:ext cx="5303520" cy="274320"/>
          </a:xfrm>
          <a:prstGeom prst="rect">
            <a:avLst/>
          </a:prstGeom>
          <a:noFill/>
        </p:spPr>
        <p:txBody>
          <a:bodyPr wrap="square" lIns="0" rIns="0" tIns="0" bIns="0" anchor="t">
            <a:spAutoFit/>
          </a:bodyPr>
          <a:lstStyle/>
          <a:p>
            <a:pPr algn="l">
              <a:lnSpc>
                <a:spcPct val="120000"/>
              </a:lnSpc>
            </a:pPr>
            <a:r>
              <a:rPr sz="1000" b="1">
                <a:solidFill>
                  <a:srgbClr val="E0541B"/>
                </a:solidFill>
                <a:latin typeface="Roboto Mono"/>
              </a:rPr>
              <a:t>ACTION CONCRETE</a:t>
            </a:r>
          </a:p>
        </p:txBody>
      </p:sp>
      <p:sp>
        <p:nvSpPr>
          <p:cNvPr id="9" name="TextBox 8"/>
          <p:cNvSpPr txBox="1"/>
          <p:nvPr/>
        </p:nvSpPr>
        <p:spPr>
          <a:xfrm>
            <a:off x="6263640" y="2697480"/>
            <a:ext cx="5303520" cy="3200400"/>
          </a:xfrm>
          <a:prstGeom prst="rect">
            <a:avLst/>
          </a:prstGeom>
          <a:noFill/>
        </p:spPr>
        <p:txBody>
          <a:bodyPr wrap="square" lIns="0" rIns="0" tIns="0" bIns="0">
            <a:spAutoFit/>
          </a:bodyPr>
          <a:lstStyle/>
          <a:p>
            <a:pPr algn="l">
              <a:lnSpc>
                <a:spcPct val="150000"/>
              </a:lnSpc>
              <a:spcAft>
                <a:spcPts val="600"/>
              </a:spcAft>
            </a:pPr>
            <a:r>
              <a:rPr sz="1200" b="1">
                <a:solidFill>
                  <a:srgbClr val="E0541B"/>
                </a:solidFill>
                <a:latin typeface="Inter"/>
              </a:rPr>
              <a:t>1.  </a:t>
            </a:r>
            <a:r>
              <a:rPr sz="1200">
                <a:solidFill>
                  <a:srgbClr val="1A1C18"/>
                </a:solidFill>
                <a:latin typeface="Inter"/>
              </a:rPr>
              <a:t>Modifier le profil &gt; Horaires</a:t>
            </a:r>
          </a:p>
          <a:p>
            <a:pPr algn="l">
              <a:lnSpc>
                <a:spcPct val="150000"/>
              </a:lnSpc>
              <a:spcAft>
                <a:spcPts val="600"/>
              </a:spcAft>
            </a:pPr>
            <a:r>
              <a:rPr sz="1200" b="1">
                <a:solidFill>
                  <a:srgbClr val="E0541B"/>
                </a:solidFill>
                <a:latin typeface="Inter"/>
              </a:rPr>
              <a:t>2.  </a:t>
            </a:r>
            <a:r>
              <a:rPr sz="1200">
                <a:solidFill>
                  <a:srgbClr val="1A1C18"/>
                </a:solidFill>
                <a:latin typeface="Inter"/>
              </a:rPr>
              <a:t>Renseignez vos horaires habituels jour par jour</a:t>
            </a:r>
          </a:p>
          <a:p>
            <a:pPr algn="l">
              <a:lnSpc>
                <a:spcPct val="150000"/>
              </a:lnSpc>
              <a:spcAft>
                <a:spcPts val="600"/>
              </a:spcAft>
            </a:pPr>
            <a:r>
              <a:rPr sz="1200" b="1">
                <a:solidFill>
                  <a:srgbClr val="E0541B"/>
                </a:solidFill>
                <a:latin typeface="Inter"/>
              </a:rPr>
              <a:t>3.  </a:t>
            </a:r>
            <a:r>
              <a:rPr sz="1200">
                <a:solidFill>
                  <a:srgbClr val="1A1C18"/>
                </a:solidFill>
                <a:latin typeface="Inter"/>
              </a:rPr>
              <a:t>Horaires speciaux : ajoutez chaque jour ferie (1er janvier, lundi de Paques, 1er mai, 8 mai, Ascension, etc.)</a:t>
            </a:r>
          </a:p>
          <a:p>
            <a:pPr algn="l">
              <a:lnSpc>
                <a:spcPct val="150000"/>
              </a:lnSpc>
              <a:spcAft>
                <a:spcPts val="600"/>
              </a:spcAft>
            </a:pPr>
            <a:r>
              <a:rPr sz="1200" b="1">
                <a:solidFill>
                  <a:srgbClr val="E0541B"/>
                </a:solidFill>
                <a:latin typeface="Inter"/>
              </a:rPr>
              <a:t>4.  </a:t>
            </a:r>
            <a:r>
              <a:rPr sz="1200">
                <a:solidFill>
                  <a:srgbClr val="1A1C18"/>
                </a:solidFill>
                <a:latin typeface="Inter"/>
              </a:rPr>
              <a:t>Depannage 24/7 : activez Ouvert 24h/24</a:t>
            </a:r>
          </a:p>
          <a:p>
            <a:pPr algn="l">
              <a:lnSpc>
                <a:spcPct val="150000"/>
              </a:lnSpc>
              <a:spcAft>
                <a:spcPts val="600"/>
              </a:spcAft>
            </a:pPr>
            <a:r>
              <a:rPr sz="1200" b="1">
                <a:solidFill>
                  <a:srgbClr val="E0541B"/>
                </a:solidFill>
                <a:latin typeface="Inter"/>
              </a:rPr>
              <a:t>5.  </a:t>
            </a:r>
            <a:r>
              <a:rPr sz="1200">
                <a:solidFill>
                  <a:srgbClr val="1A1C18"/>
                </a:solidFill>
                <a:latin typeface="Inter"/>
              </a:rPr>
              <a:t>Repassez dessus en janvier et en juin chaque annee</a:t>
            </a:r>
          </a:p>
        </p:txBody>
      </p:sp>
      <p:sp>
        <p:nvSpPr>
          <p:cNvPr id="10" name="Rectangle 9"/>
          <p:cNvSpPr/>
          <p:nvPr/>
        </p:nvSpPr>
        <p:spPr>
          <a:xfrm>
            <a:off x="640080" y="5852160"/>
            <a:ext cx="256032" cy="256032"/>
          </a:xfrm>
          <a:prstGeom prst="rect">
            <a:avLst/>
          </a:prstGeom>
          <a:solidFill>
            <a:srgbClr val="F3F2EE"/>
          </a:solidFill>
          <a:ln w="15240">
            <a:solidFill>
              <a:srgbClr val="1A1C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5815584"/>
            <a:ext cx="1828800" cy="365760"/>
          </a:xfrm>
          <a:prstGeom prst="rect">
            <a:avLst/>
          </a:prstGeom>
          <a:noFill/>
        </p:spPr>
        <p:txBody>
          <a:bodyPr wrap="square" lIns="0" rIns="0" tIns="0" bIns="0" anchor="t">
            <a:spAutoFit/>
          </a:bodyPr>
          <a:lstStyle/>
          <a:p>
            <a:pPr algn="l">
              <a:lnSpc>
                <a:spcPct val="120000"/>
              </a:lnSpc>
            </a:pPr>
            <a:r>
              <a:rPr sz="1200" b="0">
                <a:solidFill>
                  <a:srgbClr val="1A1C18"/>
                </a:solidFill>
                <a:latin typeface="Inter"/>
              </a:rPr>
              <a:t>Fait</a:t>
            </a:r>
          </a:p>
        </p:txBody>
      </p:sp>
      <p:sp>
        <p:nvSpPr>
          <p:cNvPr id="12" name="Rectangle 11"/>
          <p:cNvSpPr/>
          <p:nvPr/>
        </p:nvSpPr>
        <p:spPr>
          <a:xfrm>
            <a:off x="6995160" y="5806440"/>
            <a:ext cx="4572000" cy="502920"/>
          </a:xfrm>
          <a:prstGeom prst="rect">
            <a:avLst/>
          </a:prstGeom>
          <a:solidFill>
            <a:srgbClr val="EBE7DC"/>
          </a:solidFill>
          <a:ln w="6350">
            <a:solidFill>
              <a:srgbClr val="D5D2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95160" y="5806440"/>
            <a:ext cx="4572000" cy="502920"/>
          </a:xfrm>
          <a:prstGeom prst="rect">
            <a:avLst/>
          </a:prstGeom>
          <a:noFill/>
        </p:spPr>
        <p:txBody>
          <a:bodyPr wrap="square" lIns="0" rIns="0" tIns="0" bIns="0" anchor="ctr">
            <a:spAutoFit/>
          </a:bodyPr>
          <a:lstStyle/>
          <a:p>
            <a:pPr algn="ctr">
              <a:lnSpc>
                <a:spcPct val="150000"/>
              </a:lnSpc>
            </a:pPr>
            <a:r>
              <a:rPr sz="1000" b="0">
                <a:solidFill>
                  <a:srgbClr val="5A5D56"/>
                </a:solidFill>
                <a:latin typeface="Roboto Mono"/>
              </a:rPr>
              <a:t>⎘   CAPTURE À INSERER
Editeur Horaires + Horaires speciaux - GBP</a:t>
            </a:r>
          </a:p>
        </p:txBody>
      </p:sp>
      <p:sp>
        <p:nvSpPr>
          <p:cNvPr id="14" name="TextBox 13"/>
          <p:cNvSpPr txBox="1"/>
          <p:nvPr/>
        </p:nvSpPr>
        <p:spPr>
          <a:xfrm>
            <a:off x="640080" y="6446520"/>
            <a:ext cx="6400800" cy="274320"/>
          </a:xfrm>
          <a:prstGeom prst="rect">
            <a:avLst/>
          </a:prstGeom>
          <a:noFill/>
        </p:spPr>
        <p:txBody>
          <a:bodyPr wrap="square" lIns="0" rIns="0" tIns="0" bIns="0" anchor="t">
            <a:spAutoFit/>
          </a:bodyPr>
          <a:lstStyle/>
          <a:p>
            <a:pPr algn="l">
              <a:lnSpc>
                <a:spcPct val="120000"/>
              </a:lnSpc>
            </a:pPr>
            <a:r>
              <a:rPr sz="800" b="0">
                <a:solidFill>
                  <a:srgbClr val="5A5D56"/>
                </a:solidFill>
                <a:latin typeface="Roboto Mono"/>
              </a:rPr>
              <a:t>CARNET PLEIN® BY MAD MAKERS  ·  BONUS #1 · FICHE GOOGLE PARFAITE</a:t>
            </a:r>
          </a:p>
        </p:txBody>
      </p:sp>
      <p:sp>
        <p:nvSpPr>
          <p:cNvPr id="15" name="TextBox 14"/>
          <p:cNvSpPr txBox="1"/>
          <p:nvPr/>
        </p:nvSpPr>
        <p:spPr>
          <a:xfrm>
            <a:off x="10607040" y="6446520"/>
            <a:ext cx="1005840" cy="274320"/>
          </a:xfrm>
          <a:prstGeom prst="rect">
            <a:avLst/>
          </a:prstGeom>
          <a:noFill/>
        </p:spPr>
        <p:txBody>
          <a:bodyPr wrap="square" lIns="0" rIns="0" tIns="0" bIns="0" anchor="t">
            <a:spAutoFit/>
          </a:bodyPr>
          <a:lstStyle/>
          <a:p>
            <a:pPr algn="r">
              <a:lnSpc>
                <a:spcPct val="120000"/>
              </a:lnSpc>
            </a:pPr>
            <a:r>
              <a:rPr sz="800" b="0">
                <a:solidFill>
                  <a:srgbClr val="5A5D56"/>
                </a:solidFill>
                <a:latin typeface="Roboto Mono"/>
              </a:rPr>
              <a:t>07 / 18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371600" cy="365760"/>
          </a:xfrm>
          <a:prstGeom prst="rect">
            <a:avLst/>
          </a:prstGeom>
          <a:noFill/>
        </p:spPr>
        <p:txBody>
          <a:bodyPr wrap="square" lIns="0" rIns="0" tIns="0" bIns="0" anchor="t">
            <a:spAutoFit/>
          </a:bodyPr>
          <a:lstStyle/>
          <a:p>
            <a:pPr algn="l">
              <a:lnSpc>
                <a:spcPct val="120000"/>
              </a:lnSpc>
            </a:pPr>
            <a:r>
              <a:rPr sz="1200" b="1">
                <a:solidFill>
                  <a:srgbClr val="E0541B"/>
                </a:solidFill>
                <a:latin typeface="Roboto Mono"/>
              </a:rPr>
              <a:t>06 / 12</a:t>
            </a:r>
          </a:p>
        </p:txBody>
      </p:sp>
      <p:sp>
        <p:nvSpPr>
          <p:cNvPr id="4" name="TextBox 3"/>
          <p:cNvSpPr txBox="1"/>
          <p:nvPr/>
        </p:nvSpPr>
        <p:spPr>
          <a:xfrm>
            <a:off x="640080" y="914400"/>
            <a:ext cx="10515600" cy="914400"/>
          </a:xfrm>
          <a:prstGeom prst="rect">
            <a:avLst/>
          </a:prstGeom>
          <a:noFill/>
        </p:spPr>
        <p:txBody>
          <a:bodyPr wrap="square" lIns="0" rIns="0" tIns="0" bIns="0" anchor="t">
            <a:spAutoFit/>
          </a:bodyPr>
          <a:lstStyle/>
          <a:p>
            <a:pPr algn="l">
              <a:lnSpc>
                <a:spcPct val="110000"/>
              </a:lnSpc>
            </a:pPr>
            <a:r>
              <a:rPr sz="3200" b="1">
                <a:solidFill>
                  <a:srgbClr val="0A0A0A"/>
                </a:solidFill>
                <a:latin typeface="Inter"/>
              </a:rPr>
              <a:t>Mettre un vrai numero de telephone direct</a:t>
            </a:r>
          </a:p>
        </p:txBody>
      </p:sp>
      <p:sp>
        <p:nvSpPr>
          <p:cNvPr id="5" name="Rectangle 4"/>
          <p:cNvSpPr/>
          <p:nvPr/>
        </p:nvSpPr>
        <p:spPr>
          <a:xfrm>
            <a:off x="640080" y="1920240"/>
            <a:ext cx="457200" cy="36576"/>
          </a:xfrm>
          <a:prstGeom prst="rect">
            <a:avLst/>
          </a:prstGeom>
          <a:solidFill>
            <a:srgbClr val="E054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286000"/>
            <a:ext cx="5303520" cy="274320"/>
          </a:xfrm>
          <a:prstGeom prst="rect">
            <a:avLst/>
          </a:prstGeom>
          <a:noFill/>
        </p:spPr>
        <p:txBody>
          <a:bodyPr wrap="square" lIns="0" rIns="0" tIns="0" bIns="0" anchor="t">
            <a:spAutoFit/>
          </a:bodyPr>
          <a:lstStyle/>
          <a:p>
            <a:pPr algn="l">
              <a:lnSpc>
                <a:spcPct val="120000"/>
              </a:lnSpc>
            </a:pPr>
            <a:r>
              <a:rPr sz="1000" b="1">
                <a:solidFill>
                  <a:srgbClr val="E0541B"/>
                </a:solidFill>
                <a:latin typeface="Roboto Mono"/>
              </a:rPr>
              <a:t>POURQUOI C'EST IMPORTANT</a:t>
            </a:r>
          </a:p>
        </p:txBody>
      </p:sp>
      <p:sp>
        <p:nvSpPr>
          <p:cNvPr id="7" name="TextBox 6"/>
          <p:cNvSpPr txBox="1"/>
          <p:nvPr/>
        </p:nvSpPr>
        <p:spPr>
          <a:xfrm>
            <a:off x="640080" y="2697480"/>
            <a:ext cx="5303520" cy="2743200"/>
          </a:xfrm>
          <a:prstGeom prst="rect">
            <a:avLst/>
          </a:prstGeom>
          <a:noFill/>
        </p:spPr>
        <p:txBody>
          <a:bodyPr wrap="square" lIns="0" rIns="0" tIns="0" bIns="0" anchor="t">
            <a:spAutoFit/>
          </a:bodyPr>
          <a:lstStyle/>
          <a:p>
            <a:pPr algn="l">
              <a:lnSpc>
                <a:spcPct val="155000"/>
              </a:lnSpc>
            </a:pPr>
            <a:r>
              <a:rPr sz="1300" b="0">
                <a:solidFill>
                  <a:srgbClr val="1A1C18"/>
                </a:solidFill>
                <a:latin typeface="Inter"/>
              </a:rPr>
              <a:t>Le numero affiche doit decrocher. Pas un standard qui filtre, pas un portable qui ne repond pas en chantier. Google compte les appels recus depuis votre fiche : c'est un signal d'activite. Et un appel manque, c'est un prospect perdu, point.</a:t>
            </a:r>
          </a:p>
        </p:txBody>
      </p:sp>
      <p:sp>
        <p:nvSpPr>
          <p:cNvPr id="8" name="TextBox 7"/>
          <p:cNvSpPr txBox="1"/>
          <p:nvPr/>
        </p:nvSpPr>
        <p:spPr>
          <a:xfrm>
            <a:off x="6263640" y="2286000"/>
            <a:ext cx="5303520" cy="274320"/>
          </a:xfrm>
          <a:prstGeom prst="rect">
            <a:avLst/>
          </a:prstGeom>
          <a:noFill/>
        </p:spPr>
        <p:txBody>
          <a:bodyPr wrap="square" lIns="0" rIns="0" tIns="0" bIns="0" anchor="t">
            <a:spAutoFit/>
          </a:bodyPr>
          <a:lstStyle/>
          <a:p>
            <a:pPr algn="l">
              <a:lnSpc>
                <a:spcPct val="120000"/>
              </a:lnSpc>
            </a:pPr>
            <a:r>
              <a:rPr sz="1000" b="1">
                <a:solidFill>
                  <a:srgbClr val="E0541B"/>
                </a:solidFill>
                <a:latin typeface="Roboto Mono"/>
              </a:rPr>
              <a:t>ACTION CONCRETE</a:t>
            </a:r>
          </a:p>
        </p:txBody>
      </p:sp>
      <p:sp>
        <p:nvSpPr>
          <p:cNvPr id="9" name="TextBox 8"/>
          <p:cNvSpPr txBox="1"/>
          <p:nvPr/>
        </p:nvSpPr>
        <p:spPr>
          <a:xfrm>
            <a:off x="6263640" y="2697480"/>
            <a:ext cx="5303520" cy="3200400"/>
          </a:xfrm>
          <a:prstGeom prst="rect">
            <a:avLst/>
          </a:prstGeom>
          <a:noFill/>
        </p:spPr>
        <p:txBody>
          <a:bodyPr wrap="square" lIns="0" rIns="0" tIns="0" bIns="0">
            <a:spAutoFit/>
          </a:bodyPr>
          <a:lstStyle/>
          <a:p>
            <a:pPr algn="l">
              <a:lnSpc>
                <a:spcPct val="150000"/>
              </a:lnSpc>
              <a:spcAft>
                <a:spcPts val="600"/>
              </a:spcAft>
            </a:pPr>
            <a:r>
              <a:rPr sz="1200" b="1">
                <a:solidFill>
                  <a:srgbClr val="E0541B"/>
                </a:solidFill>
                <a:latin typeface="Inter"/>
              </a:rPr>
              <a:t>1.  </a:t>
            </a:r>
            <a:r>
              <a:rPr sz="1200">
                <a:solidFill>
                  <a:srgbClr val="1A1C18"/>
                </a:solidFill>
                <a:latin typeface="Inter"/>
              </a:rPr>
              <a:t>Modifier le profil &gt; Coordonnees &gt; Telephone</a:t>
            </a:r>
          </a:p>
          <a:p>
            <a:pPr algn="l">
              <a:lnSpc>
                <a:spcPct val="150000"/>
              </a:lnSpc>
              <a:spcAft>
                <a:spcPts val="600"/>
              </a:spcAft>
            </a:pPr>
            <a:r>
              <a:rPr sz="1200" b="1">
                <a:solidFill>
                  <a:srgbClr val="E0541B"/>
                </a:solidFill>
                <a:latin typeface="Inter"/>
              </a:rPr>
              <a:t>2.  </a:t>
            </a:r>
            <a:r>
              <a:rPr sz="1200">
                <a:solidFill>
                  <a:srgbClr val="1A1C18"/>
                </a:solidFill>
                <a:latin typeface="Inter"/>
              </a:rPr>
              <a:t>Mettez le numero qui decroche vraiment en journee</a:t>
            </a:r>
          </a:p>
          <a:p>
            <a:pPr algn="l">
              <a:lnSpc>
                <a:spcPct val="150000"/>
              </a:lnSpc>
              <a:spcAft>
                <a:spcPts val="600"/>
              </a:spcAft>
            </a:pPr>
            <a:r>
              <a:rPr sz="1200" b="1">
                <a:solidFill>
                  <a:srgbClr val="E0541B"/>
                </a:solidFill>
                <a:latin typeface="Inter"/>
              </a:rPr>
              <a:t>3.  </a:t>
            </a:r>
            <a:r>
              <a:rPr sz="1200">
                <a:solidFill>
                  <a:srgbClr val="1A1C18"/>
                </a:solidFill>
                <a:latin typeface="Inter"/>
              </a:rPr>
              <a:t>Activez Numero supplementaire pour un fixe d'agence si besoin</a:t>
            </a:r>
          </a:p>
          <a:p>
            <a:pPr algn="l">
              <a:lnSpc>
                <a:spcPct val="150000"/>
              </a:lnSpc>
              <a:spcAft>
                <a:spcPts val="600"/>
              </a:spcAft>
            </a:pPr>
            <a:r>
              <a:rPr sz="1200" b="1">
                <a:solidFill>
                  <a:srgbClr val="E0541B"/>
                </a:solidFill>
                <a:latin typeface="Inter"/>
              </a:rPr>
              <a:t>4.  </a:t>
            </a:r>
            <a:r>
              <a:rPr sz="1200">
                <a:solidFill>
                  <a:srgbClr val="1A1C18"/>
                </a:solidFill>
                <a:latin typeface="Inter"/>
              </a:rPr>
              <a:t>Numero identique sur site, cartes de visite, PagesJaunes, Habitatpresto</a:t>
            </a:r>
          </a:p>
          <a:p>
            <a:pPr algn="l">
              <a:lnSpc>
                <a:spcPct val="150000"/>
              </a:lnSpc>
              <a:spcAft>
                <a:spcPts val="600"/>
              </a:spcAft>
            </a:pPr>
            <a:r>
              <a:rPr sz="1200" b="1">
                <a:solidFill>
                  <a:srgbClr val="E0541B"/>
                </a:solidFill>
                <a:latin typeface="Inter"/>
              </a:rPr>
              <a:t>5.  </a:t>
            </a:r>
            <a:r>
              <a:rPr sz="1200">
                <a:solidFill>
                  <a:srgbClr val="1A1C18"/>
                </a:solidFill>
                <a:latin typeface="Inter"/>
              </a:rPr>
              <a:t>La coherence Nom-Adresse-Telephone (NAP) reste un signal local confirme</a:t>
            </a:r>
          </a:p>
        </p:txBody>
      </p:sp>
      <p:sp>
        <p:nvSpPr>
          <p:cNvPr id="10" name="Rectangle 9"/>
          <p:cNvSpPr/>
          <p:nvPr/>
        </p:nvSpPr>
        <p:spPr>
          <a:xfrm>
            <a:off x="640080" y="5852160"/>
            <a:ext cx="256032" cy="256032"/>
          </a:xfrm>
          <a:prstGeom prst="rect">
            <a:avLst/>
          </a:prstGeom>
          <a:solidFill>
            <a:srgbClr val="F3F2EE"/>
          </a:solidFill>
          <a:ln w="15240">
            <a:solidFill>
              <a:srgbClr val="1A1C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5815584"/>
            <a:ext cx="1828800" cy="365760"/>
          </a:xfrm>
          <a:prstGeom prst="rect">
            <a:avLst/>
          </a:prstGeom>
          <a:noFill/>
        </p:spPr>
        <p:txBody>
          <a:bodyPr wrap="square" lIns="0" rIns="0" tIns="0" bIns="0" anchor="t">
            <a:spAutoFit/>
          </a:bodyPr>
          <a:lstStyle/>
          <a:p>
            <a:pPr algn="l">
              <a:lnSpc>
                <a:spcPct val="120000"/>
              </a:lnSpc>
            </a:pPr>
            <a:r>
              <a:rPr sz="1200" b="0">
                <a:solidFill>
                  <a:srgbClr val="1A1C18"/>
                </a:solidFill>
                <a:latin typeface="Inter"/>
              </a:rPr>
              <a:t>Fait</a:t>
            </a:r>
          </a:p>
        </p:txBody>
      </p:sp>
      <p:sp>
        <p:nvSpPr>
          <p:cNvPr id="12" name="Rectangle 11"/>
          <p:cNvSpPr/>
          <p:nvPr/>
        </p:nvSpPr>
        <p:spPr>
          <a:xfrm>
            <a:off x="6995160" y="5806440"/>
            <a:ext cx="4572000" cy="502920"/>
          </a:xfrm>
          <a:prstGeom prst="rect">
            <a:avLst/>
          </a:prstGeom>
          <a:solidFill>
            <a:srgbClr val="EBE7DC"/>
          </a:solidFill>
          <a:ln w="6350">
            <a:solidFill>
              <a:srgbClr val="D5D2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95160" y="5806440"/>
            <a:ext cx="4572000" cy="502920"/>
          </a:xfrm>
          <a:prstGeom prst="rect">
            <a:avLst/>
          </a:prstGeom>
          <a:noFill/>
        </p:spPr>
        <p:txBody>
          <a:bodyPr wrap="square" lIns="0" rIns="0" tIns="0" bIns="0" anchor="ctr">
            <a:spAutoFit/>
          </a:bodyPr>
          <a:lstStyle/>
          <a:p>
            <a:pPr algn="ctr">
              <a:lnSpc>
                <a:spcPct val="150000"/>
              </a:lnSpc>
            </a:pPr>
            <a:r>
              <a:rPr sz="1000" b="0">
                <a:solidFill>
                  <a:srgbClr val="5A5D56"/>
                </a:solidFill>
                <a:latin typeface="Roboto Mono"/>
              </a:rPr>
              <a:t>⎘   CAPTURE À INSERER
Champ Telephone - GBP</a:t>
            </a:r>
          </a:p>
        </p:txBody>
      </p:sp>
      <p:sp>
        <p:nvSpPr>
          <p:cNvPr id="14" name="TextBox 13"/>
          <p:cNvSpPr txBox="1"/>
          <p:nvPr/>
        </p:nvSpPr>
        <p:spPr>
          <a:xfrm>
            <a:off x="640080" y="6446520"/>
            <a:ext cx="6400800" cy="274320"/>
          </a:xfrm>
          <a:prstGeom prst="rect">
            <a:avLst/>
          </a:prstGeom>
          <a:noFill/>
        </p:spPr>
        <p:txBody>
          <a:bodyPr wrap="square" lIns="0" rIns="0" tIns="0" bIns="0" anchor="t">
            <a:spAutoFit/>
          </a:bodyPr>
          <a:lstStyle/>
          <a:p>
            <a:pPr algn="l">
              <a:lnSpc>
                <a:spcPct val="120000"/>
              </a:lnSpc>
            </a:pPr>
            <a:r>
              <a:rPr sz="800" b="0">
                <a:solidFill>
                  <a:srgbClr val="5A5D56"/>
                </a:solidFill>
                <a:latin typeface="Roboto Mono"/>
              </a:rPr>
              <a:t>CARNET PLEIN® BY MAD MAKERS  ·  BONUS #1 · FICHE GOOGLE PARFAITE</a:t>
            </a:r>
          </a:p>
        </p:txBody>
      </p:sp>
      <p:sp>
        <p:nvSpPr>
          <p:cNvPr id="15" name="TextBox 14"/>
          <p:cNvSpPr txBox="1"/>
          <p:nvPr/>
        </p:nvSpPr>
        <p:spPr>
          <a:xfrm>
            <a:off x="10607040" y="6446520"/>
            <a:ext cx="1005840" cy="274320"/>
          </a:xfrm>
          <a:prstGeom prst="rect">
            <a:avLst/>
          </a:prstGeom>
          <a:noFill/>
        </p:spPr>
        <p:txBody>
          <a:bodyPr wrap="square" lIns="0" rIns="0" tIns="0" bIns="0" anchor="t">
            <a:spAutoFit/>
          </a:bodyPr>
          <a:lstStyle/>
          <a:p>
            <a:pPr algn="r">
              <a:lnSpc>
                <a:spcPct val="120000"/>
              </a:lnSpc>
            </a:pPr>
            <a:r>
              <a:rPr sz="800" b="0">
                <a:solidFill>
                  <a:srgbClr val="5A5D56"/>
                </a:solidFill>
                <a:latin typeface="Roboto Mono"/>
              </a:rPr>
              <a:t>08 / 18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371600" cy="365760"/>
          </a:xfrm>
          <a:prstGeom prst="rect">
            <a:avLst/>
          </a:prstGeom>
          <a:noFill/>
        </p:spPr>
        <p:txBody>
          <a:bodyPr wrap="square" lIns="0" rIns="0" tIns="0" bIns="0" anchor="t">
            <a:spAutoFit/>
          </a:bodyPr>
          <a:lstStyle/>
          <a:p>
            <a:pPr algn="l">
              <a:lnSpc>
                <a:spcPct val="120000"/>
              </a:lnSpc>
            </a:pPr>
            <a:r>
              <a:rPr sz="1200" b="1">
                <a:solidFill>
                  <a:srgbClr val="E0541B"/>
                </a:solidFill>
                <a:latin typeface="Roboto Mono"/>
              </a:rPr>
              <a:t>07 / 12</a:t>
            </a:r>
          </a:p>
        </p:txBody>
      </p:sp>
      <p:sp>
        <p:nvSpPr>
          <p:cNvPr id="4" name="TextBox 3"/>
          <p:cNvSpPr txBox="1"/>
          <p:nvPr/>
        </p:nvSpPr>
        <p:spPr>
          <a:xfrm>
            <a:off x="640080" y="914400"/>
            <a:ext cx="10515600" cy="914400"/>
          </a:xfrm>
          <a:prstGeom prst="rect">
            <a:avLst/>
          </a:prstGeom>
          <a:noFill/>
        </p:spPr>
        <p:txBody>
          <a:bodyPr wrap="square" lIns="0" rIns="0" tIns="0" bIns="0" anchor="t">
            <a:spAutoFit/>
          </a:bodyPr>
          <a:lstStyle/>
          <a:p>
            <a:pPr algn="l">
              <a:lnSpc>
                <a:spcPct val="110000"/>
              </a:lnSpc>
            </a:pPr>
            <a:r>
              <a:rPr sz="3200" b="1">
                <a:solidFill>
                  <a:srgbClr val="0A0A0A"/>
                </a:solidFill>
                <a:latin typeface="Inter"/>
              </a:rPr>
              <a:t>Delimiter clairement votre zone d'intervention</a:t>
            </a:r>
          </a:p>
        </p:txBody>
      </p:sp>
      <p:sp>
        <p:nvSpPr>
          <p:cNvPr id="5" name="Rectangle 4"/>
          <p:cNvSpPr/>
          <p:nvPr/>
        </p:nvSpPr>
        <p:spPr>
          <a:xfrm>
            <a:off x="640080" y="1920240"/>
            <a:ext cx="457200" cy="36576"/>
          </a:xfrm>
          <a:prstGeom prst="rect">
            <a:avLst/>
          </a:prstGeom>
          <a:solidFill>
            <a:srgbClr val="E054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286000"/>
            <a:ext cx="5303520" cy="274320"/>
          </a:xfrm>
          <a:prstGeom prst="rect">
            <a:avLst/>
          </a:prstGeom>
          <a:noFill/>
        </p:spPr>
        <p:txBody>
          <a:bodyPr wrap="square" lIns="0" rIns="0" tIns="0" bIns="0" anchor="t">
            <a:spAutoFit/>
          </a:bodyPr>
          <a:lstStyle/>
          <a:p>
            <a:pPr algn="l">
              <a:lnSpc>
                <a:spcPct val="120000"/>
              </a:lnSpc>
            </a:pPr>
            <a:r>
              <a:rPr sz="1000" b="1">
                <a:solidFill>
                  <a:srgbClr val="E0541B"/>
                </a:solidFill>
                <a:latin typeface="Roboto Mono"/>
              </a:rPr>
              <a:t>POURQUOI C'EST IMPORTANT</a:t>
            </a:r>
          </a:p>
        </p:txBody>
      </p:sp>
      <p:sp>
        <p:nvSpPr>
          <p:cNvPr id="7" name="TextBox 6"/>
          <p:cNvSpPr txBox="1"/>
          <p:nvPr/>
        </p:nvSpPr>
        <p:spPr>
          <a:xfrm>
            <a:off x="640080" y="2697480"/>
            <a:ext cx="5303520" cy="2743200"/>
          </a:xfrm>
          <a:prstGeom prst="rect">
            <a:avLst/>
          </a:prstGeom>
          <a:noFill/>
        </p:spPr>
        <p:txBody>
          <a:bodyPr wrap="square" lIns="0" rIns="0" tIns="0" bIns="0" anchor="t">
            <a:spAutoFit/>
          </a:bodyPr>
          <a:lstStyle/>
          <a:p>
            <a:pPr algn="l">
              <a:lnSpc>
                <a:spcPct val="155000"/>
              </a:lnSpc>
            </a:pPr>
            <a:r>
              <a:rPr sz="1300" b="0">
                <a:solidFill>
                  <a:srgbClr val="1A1C18"/>
                </a:solidFill>
                <a:latin typeface="Inter"/>
              </a:rPr>
              <a:t>Google a besoin de savoir ou vous travaillez pour vous proposer sur les bonnes recherches geographiques. Sans zone definie, vous ressortez uniquement sur votre commune. En la definissant, vous couvrez tous les villages alentours.</a:t>
            </a:r>
          </a:p>
        </p:txBody>
      </p:sp>
      <p:sp>
        <p:nvSpPr>
          <p:cNvPr id="8" name="TextBox 7"/>
          <p:cNvSpPr txBox="1"/>
          <p:nvPr/>
        </p:nvSpPr>
        <p:spPr>
          <a:xfrm>
            <a:off x="6263640" y="2286000"/>
            <a:ext cx="5303520" cy="274320"/>
          </a:xfrm>
          <a:prstGeom prst="rect">
            <a:avLst/>
          </a:prstGeom>
          <a:noFill/>
        </p:spPr>
        <p:txBody>
          <a:bodyPr wrap="square" lIns="0" rIns="0" tIns="0" bIns="0" anchor="t">
            <a:spAutoFit/>
          </a:bodyPr>
          <a:lstStyle/>
          <a:p>
            <a:pPr algn="l">
              <a:lnSpc>
                <a:spcPct val="120000"/>
              </a:lnSpc>
            </a:pPr>
            <a:r>
              <a:rPr sz="1000" b="1">
                <a:solidFill>
                  <a:srgbClr val="E0541B"/>
                </a:solidFill>
                <a:latin typeface="Roboto Mono"/>
              </a:rPr>
              <a:t>ACTION CONCRETE</a:t>
            </a:r>
          </a:p>
        </p:txBody>
      </p:sp>
      <p:sp>
        <p:nvSpPr>
          <p:cNvPr id="9" name="TextBox 8"/>
          <p:cNvSpPr txBox="1"/>
          <p:nvPr/>
        </p:nvSpPr>
        <p:spPr>
          <a:xfrm>
            <a:off x="6263640" y="2697480"/>
            <a:ext cx="5303520" cy="3200400"/>
          </a:xfrm>
          <a:prstGeom prst="rect">
            <a:avLst/>
          </a:prstGeom>
          <a:noFill/>
        </p:spPr>
        <p:txBody>
          <a:bodyPr wrap="square" lIns="0" rIns="0" tIns="0" bIns="0">
            <a:spAutoFit/>
          </a:bodyPr>
          <a:lstStyle/>
          <a:p>
            <a:pPr algn="l">
              <a:lnSpc>
                <a:spcPct val="150000"/>
              </a:lnSpc>
              <a:spcAft>
                <a:spcPts val="600"/>
              </a:spcAft>
            </a:pPr>
            <a:r>
              <a:rPr sz="1200" b="1">
                <a:solidFill>
                  <a:srgbClr val="E0541B"/>
                </a:solidFill>
                <a:latin typeface="Inter"/>
              </a:rPr>
              <a:t>1.  </a:t>
            </a:r>
            <a:r>
              <a:rPr sz="1200">
                <a:solidFill>
                  <a:srgbClr val="1A1C18"/>
                </a:solidFill>
                <a:latin typeface="Inter"/>
              </a:rPr>
              <a:t>Modifier le profil &gt; Etablissement et zone de chalandise</a:t>
            </a:r>
          </a:p>
          <a:p>
            <a:pPr algn="l">
              <a:lnSpc>
                <a:spcPct val="150000"/>
              </a:lnSpc>
              <a:spcAft>
                <a:spcPts val="600"/>
              </a:spcAft>
            </a:pPr>
            <a:r>
              <a:rPr sz="1200" b="1">
                <a:solidFill>
                  <a:srgbClr val="E0541B"/>
                </a:solidFill>
                <a:latin typeface="Inter"/>
              </a:rPr>
              <a:t>2.  </a:t>
            </a:r>
            <a:r>
              <a:rPr sz="1200">
                <a:solidFill>
                  <a:srgbClr val="1A1C18"/>
                </a:solidFill>
                <a:latin typeface="Inter"/>
              </a:rPr>
              <a:t>Zones desservies &gt; Ajouter une zone</a:t>
            </a:r>
          </a:p>
          <a:p>
            <a:pPr algn="l">
              <a:lnSpc>
                <a:spcPct val="150000"/>
              </a:lnSpc>
              <a:spcAft>
                <a:spcPts val="600"/>
              </a:spcAft>
            </a:pPr>
            <a:r>
              <a:rPr sz="1200" b="1">
                <a:solidFill>
                  <a:srgbClr val="E0541B"/>
                </a:solidFill>
                <a:latin typeface="Inter"/>
              </a:rPr>
              <a:t>3.  </a:t>
            </a:r>
            <a:r>
              <a:rPr sz="1200">
                <a:solidFill>
                  <a:srgbClr val="1A1C18"/>
                </a:solidFill>
                <a:latin typeface="Inter"/>
              </a:rPr>
              <a:t>Saisissez vos departements : Marne, Aisne, Ardennes (par exemple)</a:t>
            </a:r>
          </a:p>
          <a:p>
            <a:pPr algn="l">
              <a:lnSpc>
                <a:spcPct val="150000"/>
              </a:lnSpc>
              <a:spcAft>
                <a:spcPts val="600"/>
              </a:spcAft>
            </a:pPr>
            <a:r>
              <a:rPr sz="1200" b="1">
                <a:solidFill>
                  <a:srgbClr val="E0541B"/>
                </a:solidFill>
                <a:latin typeface="Inter"/>
              </a:rPr>
              <a:t>4.  </a:t>
            </a:r>
            <a:r>
              <a:rPr sz="1200">
                <a:solidFill>
                  <a:srgbClr val="1A1C18"/>
                </a:solidFill>
                <a:latin typeface="Inter"/>
              </a:rPr>
              <a:t>Ajoutez les 10-15 villes principales que vous couvrez</a:t>
            </a:r>
          </a:p>
          <a:p>
            <a:pPr algn="l">
              <a:lnSpc>
                <a:spcPct val="150000"/>
              </a:lnSpc>
              <a:spcAft>
                <a:spcPts val="600"/>
              </a:spcAft>
            </a:pPr>
            <a:r>
              <a:rPr sz="1200" b="1">
                <a:solidFill>
                  <a:srgbClr val="E0541B"/>
                </a:solidFill>
                <a:latin typeface="Inter"/>
              </a:rPr>
              <a:t>5.  </a:t>
            </a:r>
            <a:r>
              <a:rPr sz="1200">
                <a:solidFill>
                  <a:srgbClr val="1A1C18"/>
                </a:solidFill>
                <a:latin typeface="Inter"/>
              </a:rPr>
              <a:t>N'inventez pas. Si vous ne vous deplacez pas a Sedan, ne la cochez pas</a:t>
            </a:r>
          </a:p>
        </p:txBody>
      </p:sp>
      <p:sp>
        <p:nvSpPr>
          <p:cNvPr id="10" name="Rectangle 9"/>
          <p:cNvSpPr/>
          <p:nvPr/>
        </p:nvSpPr>
        <p:spPr>
          <a:xfrm>
            <a:off x="640080" y="5852160"/>
            <a:ext cx="256032" cy="256032"/>
          </a:xfrm>
          <a:prstGeom prst="rect">
            <a:avLst/>
          </a:prstGeom>
          <a:solidFill>
            <a:srgbClr val="F3F2EE"/>
          </a:solidFill>
          <a:ln w="15240">
            <a:solidFill>
              <a:srgbClr val="1A1C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5815584"/>
            <a:ext cx="1828800" cy="365760"/>
          </a:xfrm>
          <a:prstGeom prst="rect">
            <a:avLst/>
          </a:prstGeom>
          <a:noFill/>
        </p:spPr>
        <p:txBody>
          <a:bodyPr wrap="square" lIns="0" rIns="0" tIns="0" bIns="0" anchor="t">
            <a:spAutoFit/>
          </a:bodyPr>
          <a:lstStyle/>
          <a:p>
            <a:pPr algn="l">
              <a:lnSpc>
                <a:spcPct val="120000"/>
              </a:lnSpc>
            </a:pPr>
            <a:r>
              <a:rPr sz="1200" b="0">
                <a:solidFill>
                  <a:srgbClr val="1A1C18"/>
                </a:solidFill>
                <a:latin typeface="Inter"/>
              </a:rPr>
              <a:t>Fait</a:t>
            </a:r>
          </a:p>
        </p:txBody>
      </p:sp>
      <p:sp>
        <p:nvSpPr>
          <p:cNvPr id="12" name="Rectangle 11"/>
          <p:cNvSpPr/>
          <p:nvPr/>
        </p:nvSpPr>
        <p:spPr>
          <a:xfrm>
            <a:off x="6995160" y="5806440"/>
            <a:ext cx="4572000" cy="502920"/>
          </a:xfrm>
          <a:prstGeom prst="rect">
            <a:avLst/>
          </a:prstGeom>
          <a:solidFill>
            <a:srgbClr val="EBE7DC"/>
          </a:solidFill>
          <a:ln w="6350">
            <a:solidFill>
              <a:srgbClr val="D5D2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95160" y="5806440"/>
            <a:ext cx="4572000" cy="502920"/>
          </a:xfrm>
          <a:prstGeom prst="rect">
            <a:avLst/>
          </a:prstGeom>
          <a:noFill/>
        </p:spPr>
        <p:txBody>
          <a:bodyPr wrap="square" lIns="0" rIns="0" tIns="0" bIns="0" anchor="ctr">
            <a:spAutoFit/>
          </a:bodyPr>
          <a:lstStyle/>
          <a:p>
            <a:pPr algn="ctr">
              <a:lnSpc>
                <a:spcPct val="150000"/>
              </a:lnSpc>
            </a:pPr>
            <a:r>
              <a:rPr sz="1000" b="0">
                <a:solidFill>
                  <a:srgbClr val="5A5D56"/>
                </a:solidFill>
                <a:latin typeface="Roboto Mono"/>
              </a:rPr>
              <a:t>⎘   CAPTURE À INSERER
Editeur Zones desservies - GBP</a:t>
            </a:r>
          </a:p>
        </p:txBody>
      </p:sp>
      <p:sp>
        <p:nvSpPr>
          <p:cNvPr id="14" name="TextBox 13"/>
          <p:cNvSpPr txBox="1"/>
          <p:nvPr/>
        </p:nvSpPr>
        <p:spPr>
          <a:xfrm>
            <a:off x="640080" y="6446520"/>
            <a:ext cx="6400800" cy="274320"/>
          </a:xfrm>
          <a:prstGeom prst="rect">
            <a:avLst/>
          </a:prstGeom>
          <a:noFill/>
        </p:spPr>
        <p:txBody>
          <a:bodyPr wrap="square" lIns="0" rIns="0" tIns="0" bIns="0" anchor="t">
            <a:spAutoFit/>
          </a:bodyPr>
          <a:lstStyle/>
          <a:p>
            <a:pPr algn="l">
              <a:lnSpc>
                <a:spcPct val="120000"/>
              </a:lnSpc>
            </a:pPr>
            <a:r>
              <a:rPr sz="800" b="0">
                <a:solidFill>
                  <a:srgbClr val="5A5D56"/>
                </a:solidFill>
                <a:latin typeface="Roboto Mono"/>
              </a:rPr>
              <a:t>CARNET PLEIN® BY MAD MAKERS  ·  BONUS #1 · FICHE GOOGLE PARFAITE</a:t>
            </a:r>
          </a:p>
        </p:txBody>
      </p:sp>
      <p:sp>
        <p:nvSpPr>
          <p:cNvPr id="15" name="TextBox 14"/>
          <p:cNvSpPr txBox="1"/>
          <p:nvPr/>
        </p:nvSpPr>
        <p:spPr>
          <a:xfrm>
            <a:off x="10607040" y="6446520"/>
            <a:ext cx="1005840" cy="274320"/>
          </a:xfrm>
          <a:prstGeom prst="rect">
            <a:avLst/>
          </a:prstGeom>
          <a:noFill/>
        </p:spPr>
        <p:txBody>
          <a:bodyPr wrap="square" lIns="0" rIns="0" tIns="0" bIns="0" anchor="t">
            <a:spAutoFit/>
          </a:bodyPr>
          <a:lstStyle/>
          <a:p>
            <a:pPr algn="r">
              <a:lnSpc>
                <a:spcPct val="120000"/>
              </a:lnSpc>
            </a:pPr>
            <a:r>
              <a:rPr sz="800" b="0">
                <a:solidFill>
                  <a:srgbClr val="5A5D56"/>
                </a:solidFill>
                <a:latin typeface="Roboto Mono"/>
              </a:rPr>
              <a:t>09 / 18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371600" cy="365760"/>
          </a:xfrm>
          <a:prstGeom prst="rect">
            <a:avLst/>
          </a:prstGeom>
          <a:noFill/>
        </p:spPr>
        <p:txBody>
          <a:bodyPr wrap="square" lIns="0" rIns="0" tIns="0" bIns="0" anchor="t">
            <a:spAutoFit/>
          </a:bodyPr>
          <a:lstStyle/>
          <a:p>
            <a:pPr algn="l">
              <a:lnSpc>
                <a:spcPct val="120000"/>
              </a:lnSpc>
            </a:pPr>
            <a:r>
              <a:rPr sz="1200" b="1">
                <a:solidFill>
                  <a:srgbClr val="E0541B"/>
                </a:solidFill>
                <a:latin typeface="Roboto Mono"/>
              </a:rPr>
              <a:t>08 / 12</a:t>
            </a:r>
          </a:p>
        </p:txBody>
      </p:sp>
      <p:sp>
        <p:nvSpPr>
          <p:cNvPr id="4" name="TextBox 3"/>
          <p:cNvSpPr txBox="1"/>
          <p:nvPr/>
        </p:nvSpPr>
        <p:spPr>
          <a:xfrm>
            <a:off x="640080" y="914400"/>
            <a:ext cx="10515600" cy="914400"/>
          </a:xfrm>
          <a:prstGeom prst="rect">
            <a:avLst/>
          </a:prstGeom>
          <a:noFill/>
        </p:spPr>
        <p:txBody>
          <a:bodyPr wrap="square" lIns="0" rIns="0" tIns="0" bIns="0" anchor="t">
            <a:spAutoFit/>
          </a:bodyPr>
          <a:lstStyle/>
          <a:p>
            <a:pPr algn="l">
              <a:lnSpc>
                <a:spcPct val="110000"/>
              </a:lnSpc>
            </a:pPr>
            <a:r>
              <a:rPr sz="3200" b="1">
                <a:solidFill>
                  <a:srgbClr val="0A0A0A"/>
                </a:solidFill>
                <a:latin typeface="Inter"/>
              </a:rPr>
              <a:t>Lister chaque service avec sa propre description</a:t>
            </a:r>
          </a:p>
        </p:txBody>
      </p:sp>
      <p:sp>
        <p:nvSpPr>
          <p:cNvPr id="5" name="Rectangle 4"/>
          <p:cNvSpPr/>
          <p:nvPr/>
        </p:nvSpPr>
        <p:spPr>
          <a:xfrm>
            <a:off x="640080" y="1920240"/>
            <a:ext cx="457200" cy="36576"/>
          </a:xfrm>
          <a:prstGeom prst="rect">
            <a:avLst/>
          </a:prstGeom>
          <a:solidFill>
            <a:srgbClr val="E054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286000"/>
            <a:ext cx="5303520" cy="274320"/>
          </a:xfrm>
          <a:prstGeom prst="rect">
            <a:avLst/>
          </a:prstGeom>
          <a:noFill/>
        </p:spPr>
        <p:txBody>
          <a:bodyPr wrap="square" lIns="0" rIns="0" tIns="0" bIns="0" anchor="t">
            <a:spAutoFit/>
          </a:bodyPr>
          <a:lstStyle/>
          <a:p>
            <a:pPr algn="l">
              <a:lnSpc>
                <a:spcPct val="120000"/>
              </a:lnSpc>
            </a:pPr>
            <a:r>
              <a:rPr sz="1000" b="1">
                <a:solidFill>
                  <a:srgbClr val="E0541B"/>
                </a:solidFill>
                <a:latin typeface="Roboto Mono"/>
              </a:rPr>
              <a:t>POURQUOI C'EST IMPORTANT</a:t>
            </a:r>
          </a:p>
        </p:txBody>
      </p:sp>
      <p:sp>
        <p:nvSpPr>
          <p:cNvPr id="7" name="TextBox 6"/>
          <p:cNvSpPr txBox="1"/>
          <p:nvPr/>
        </p:nvSpPr>
        <p:spPr>
          <a:xfrm>
            <a:off x="640080" y="2697480"/>
            <a:ext cx="5303520" cy="2743200"/>
          </a:xfrm>
          <a:prstGeom prst="rect">
            <a:avLst/>
          </a:prstGeom>
          <a:noFill/>
        </p:spPr>
        <p:txBody>
          <a:bodyPr wrap="square" lIns="0" rIns="0" tIns="0" bIns="0" anchor="t">
            <a:spAutoFit/>
          </a:bodyPr>
          <a:lstStyle/>
          <a:p>
            <a:pPr algn="l">
              <a:lnSpc>
                <a:spcPct val="155000"/>
              </a:lnSpc>
            </a:pPr>
            <a:r>
              <a:rPr sz="1300" b="0">
                <a:solidFill>
                  <a:srgbClr val="1A1C18"/>
                </a:solidFill>
                <a:latin typeface="Inter"/>
              </a:rPr>
              <a:t>Chaque service ajoute est un mot-cle supplementaire pour Google, confirme comme facteur de ranking (impact modere, WebFX 2026). Une fiche avec 20 services bien decrits ressort sur 20 recherches differentes. Sans services detailles, vous ressortez sur 3.</a:t>
            </a:r>
          </a:p>
        </p:txBody>
      </p:sp>
      <p:sp>
        <p:nvSpPr>
          <p:cNvPr id="8" name="TextBox 7"/>
          <p:cNvSpPr txBox="1"/>
          <p:nvPr/>
        </p:nvSpPr>
        <p:spPr>
          <a:xfrm>
            <a:off x="6263640" y="2286000"/>
            <a:ext cx="5303520" cy="274320"/>
          </a:xfrm>
          <a:prstGeom prst="rect">
            <a:avLst/>
          </a:prstGeom>
          <a:noFill/>
        </p:spPr>
        <p:txBody>
          <a:bodyPr wrap="square" lIns="0" rIns="0" tIns="0" bIns="0" anchor="t">
            <a:spAutoFit/>
          </a:bodyPr>
          <a:lstStyle/>
          <a:p>
            <a:pPr algn="l">
              <a:lnSpc>
                <a:spcPct val="120000"/>
              </a:lnSpc>
            </a:pPr>
            <a:r>
              <a:rPr sz="1000" b="1">
                <a:solidFill>
                  <a:srgbClr val="E0541B"/>
                </a:solidFill>
                <a:latin typeface="Roboto Mono"/>
              </a:rPr>
              <a:t>ACTION CONCRETE</a:t>
            </a:r>
          </a:p>
        </p:txBody>
      </p:sp>
      <p:sp>
        <p:nvSpPr>
          <p:cNvPr id="9" name="TextBox 8"/>
          <p:cNvSpPr txBox="1"/>
          <p:nvPr/>
        </p:nvSpPr>
        <p:spPr>
          <a:xfrm>
            <a:off x="6263640" y="2697480"/>
            <a:ext cx="5303520" cy="3200400"/>
          </a:xfrm>
          <a:prstGeom prst="rect">
            <a:avLst/>
          </a:prstGeom>
          <a:noFill/>
        </p:spPr>
        <p:txBody>
          <a:bodyPr wrap="square" lIns="0" rIns="0" tIns="0" bIns="0">
            <a:spAutoFit/>
          </a:bodyPr>
          <a:lstStyle/>
          <a:p>
            <a:pPr algn="l">
              <a:lnSpc>
                <a:spcPct val="150000"/>
              </a:lnSpc>
              <a:spcAft>
                <a:spcPts val="600"/>
              </a:spcAft>
            </a:pPr>
            <a:r>
              <a:rPr sz="1200" b="1">
                <a:solidFill>
                  <a:srgbClr val="E0541B"/>
                </a:solidFill>
                <a:latin typeface="Inter"/>
              </a:rPr>
              <a:t>1.  </a:t>
            </a:r>
            <a:r>
              <a:rPr sz="1200">
                <a:solidFill>
                  <a:srgbClr val="1A1C18"/>
                </a:solidFill>
                <a:latin typeface="Inter"/>
              </a:rPr>
              <a:t>Modifier le profil &gt; Services</a:t>
            </a:r>
          </a:p>
          <a:p>
            <a:pPr algn="l">
              <a:lnSpc>
                <a:spcPct val="150000"/>
              </a:lnSpc>
              <a:spcAft>
                <a:spcPts val="600"/>
              </a:spcAft>
            </a:pPr>
            <a:r>
              <a:rPr sz="1200" b="1">
                <a:solidFill>
                  <a:srgbClr val="E0541B"/>
                </a:solidFill>
                <a:latin typeface="Inter"/>
              </a:rPr>
              <a:t>2.  </a:t>
            </a:r>
            <a:r>
              <a:rPr sz="1200">
                <a:solidFill>
                  <a:srgbClr val="1A1C18"/>
                </a:solidFill>
                <a:latin typeface="Inter"/>
              </a:rPr>
              <a:t>Ajouter un autre service pour chaque prestation : Installation PAC air-eau, Depannage chaudiere, Renovation salle de bain...</a:t>
            </a:r>
          </a:p>
          <a:p>
            <a:pPr algn="l">
              <a:lnSpc>
                <a:spcPct val="150000"/>
              </a:lnSpc>
              <a:spcAft>
                <a:spcPts val="600"/>
              </a:spcAft>
            </a:pPr>
            <a:r>
              <a:rPr sz="1200" b="1">
                <a:solidFill>
                  <a:srgbClr val="E0541B"/>
                </a:solidFill>
                <a:latin typeface="Inter"/>
              </a:rPr>
              <a:t>3.  </a:t>
            </a:r>
            <a:r>
              <a:rPr sz="1200">
                <a:solidFill>
                  <a:srgbClr val="1A1C18"/>
                </a:solidFill>
                <a:latin typeface="Inter"/>
              </a:rPr>
              <a:t>Pour chaque service : 2-3 lignes de description avec ville et certification (RGE, QualiPAC, Qualibat)</a:t>
            </a:r>
          </a:p>
          <a:p>
            <a:pPr algn="l">
              <a:lnSpc>
                <a:spcPct val="150000"/>
              </a:lnSpc>
              <a:spcAft>
                <a:spcPts val="600"/>
              </a:spcAft>
            </a:pPr>
            <a:r>
              <a:rPr sz="1200" b="1">
                <a:solidFill>
                  <a:srgbClr val="E0541B"/>
                </a:solidFill>
                <a:latin typeface="Inter"/>
              </a:rPr>
              <a:t>4.  </a:t>
            </a:r>
            <a:r>
              <a:rPr sz="1200">
                <a:solidFill>
                  <a:srgbClr val="1A1C18"/>
                </a:solidFill>
                <a:latin typeface="Inter"/>
              </a:rPr>
              <a:t>Ajoutez un prix indicatif et un temps d'intervention estime quand c'est possible</a:t>
            </a:r>
          </a:p>
          <a:p>
            <a:pPr algn="l">
              <a:lnSpc>
                <a:spcPct val="150000"/>
              </a:lnSpc>
              <a:spcAft>
                <a:spcPts val="600"/>
              </a:spcAft>
            </a:pPr>
            <a:r>
              <a:rPr sz="1200" b="1">
                <a:solidFill>
                  <a:srgbClr val="E0541B"/>
                </a:solidFill>
                <a:latin typeface="Inter"/>
              </a:rPr>
              <a:t>5.  </a:t>
            </a:r>
            <a:r>
              <a:rPr sz="1200">
                <a:solidFill>
                  <a:srgbClr val="1A1C18"/>
                </a:solidFill>
                <a:latin typeface="Inter"/>
              </a:rPr>
              <a:t>Sauvegardez chaque service</a:t>
            </a:r>
          </a:p>
        </p:txBody>
      </p:sp>
      <p:sp>
        <p:nvSpPr>
          <p:cNvPr id="10" name="Rectangle 9"/>
          <p:cNvSpPr/>
          <p:nvPr/>
        </p:nvSpPr>
        <p:spPr>
          <a:xfrm>
            <a:off x="640080" y="5852160"/>
            <a:ext cx="256032" cy="256032"/>
          </a:xfrm>
          <a:prstGeom prst="rect">
            <a:avLst/>
          </a:prstGeom>
          <a:solidFill>
            <a:srgbClr val="F3F2EE"/>
          </a:solidFill>
          <a:ln w="15240">
            <a:solidFill>
              <a:srgbClr val="1A1C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5815584"/>
            <a:ext cx="1828800" cy="365760"/>
          </a:xfrm>
          <a:prstGeom prst="rect">
            <a:avLst/>
          </a:prstGeom>
          <a:noFill/>
        </p:spPr>
        <p:txBody>
          <a:bodyPr wrap="square" lIns="0" rIns="0" tIns="0" bIns="0" anchor="t">
            <a:spAutoFit/>
          </a:bodyPr>
          <a:lstStyle/>
          <a:p>
            <a:pPr algn="l">
              <a:lnSpc>
                <a:spcPct val="120000"/>
              </a:lnSpc>
            </a:pPr>
            <a:r>
              <a:rPr sz="1200" b="0">
                <a:solidFill>
                  <a:srgbClr val="1A1C18"/>
                </a:solidFill>
                <a:latin typeface="Inter"/>
              </a:rPr>
              <a:t>Fait</a:t>
            </a:r>
          </a:p>
        </p:txBody>
      </p:sp>
      <p:sp>
        <p:nvSpPr>
          <p:cNvPr id="12" name="Rectangle 11"/>
          <p:cNvSpPr/>
          <p:nvPr/>
        </p:nvSpPr>
        <p:spPr>
          <a:xfrm>
            <a:off x="6995160" y="5806440"/>
            <a:ext cx="4572000" cy="502920"/>
          </a:xfrm>
          <a:prstGeom prst="rect">
            <a:avLst/>
          </a:prstGeom>
          <a:solidFill>
            <a:srgbClr val="EBE7DC"/>
          </a:solidFill>
          <a:ln w="6350">
            <a:solidFill>
              <a:srgbClr val="D5D2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95160" y="5806440"/>
            <a:ext cx="4572000" cy="502920"/>
          </a:xfrm>
          <a:prstGeom prst="rect">
            <a:avLst/>
          </a:prstGeom>
          <a:noFill/>
        </p:spPr>
        <p:txBody>
          <a:bodyPr wrap="square" lIns="0" rIns="0" tIns="0" bIns="0" anchor="ctr">
            <a:spAutoFit/>
          </a:bodyPr>
          <a:lstStyle/>
          <a:p>
            <a:pPr algn="ctr">
              <a:lnSpc>
                <a:spcPct val="150000"/>
              </a:lnSpc>
            </a:pPr>
            <a:r>
              <a:rPr sz="1000" b="0">
                <a:solidFill>
                  <a:srgbClr val="5A5D56"/>
                </a:solidFill>
                <a:latin typeface="Roboto Mono"/>
              </a:rPr>
              <a:t>⎘   CAPTURE À INSERER
Liste des Services - GBP</a:t>
            </a:r>
          </a:p>
        </p:txBody>
      </p:sp>
      <p:sp>
        <p:nvSpPr>
          <p:cNvPr id="14" name="TextBox 13"/>
          <p:cNvSpPr txBox="1"/>
          <p:nvPr/>
        </p:nvSpPr>
        <p:spPr>
          <a:xfrm>
            <a:off x="640080" y="6446520"/>
            <a:ext cx="6400800" cy="274320"/>
          </a:xfrm>
          <a:prstGeom prst="rect">
            <a:avLst/>
          </a:prstGeom>
          <a:noFill/>
        </p:spPr>
        <p:txBody>
          <a:bodyPr wrap="square" lIns="0" rIns="0" tIns="0" bIns="0" anchor="t">
            <a:spAutoFit/>
          </a:bodyPr>
          <a:lstStyle/>
          <a:p>
            <a:pPr algn="l">
              <a:lnSpc>
                <a:spcPct val="120000"/>
              </a:lnSpc>
            </a:pPr>
            <a:r>
              <a:rPr sz="800" b="0">
                <a:solidFill>
                  <a:srgbClr val="5A5D56"/>
                </a:solidFill>
                <a:latin typeface="Roboto Mono"/>
              </a:rPr>
              <a:t>CARNET PLEIN® BY MAD MAKERS  ·  BONUS #1 · FICHE GOOGLE PARFAITE</a:t>
            </a:r>
          </a:p>
        </p:txBody>
      </p:sp>
      <p:sp>
        <p:nvSpPr>
          <p:cNvPr id="15" name="TextBox 14"/>
          <p:cNvSpPr txBox="1"/>
          <p:nvPr/>
        </p:nvSpPr>
        <p:spPr>
          <a:xfrm>
            <a:off x="10607040" y="6446520"/>
            <a:ext cx="1005840" cy="274320"/>
          </a:xfrm>
          <a:prstGeom prst="rect">
            <a:avLst/>
          </a:prstGeom>
          <a:noFill/>
        </p:spPr>
        <p:txBody>
          <a:bodyPr wrap="square" lIns="0" rIns="0" tIns="0" bIns="0" anchor="t">
            <a:spAutoFit/>
          </a:bodyPr>
          <a:lstStyle/>
          <a:p>
            <a:pPr algn="r">
              <a:lnSpc>
                <a:spcPct val="120000"/>
              </a:lnSpc>
            </a:pPr>
            <a:r>
              <a:rPr sz="800" b="0">
                <a:solidFill>
                  <a:srgbClr val="5A5D56"/>
                </a:solidFill>
                <a:latin typeface="Roboto Mono"/>
              </a:rPr>
              <a:t>10 / 18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371600" cy="365760"/>
          </a:xfrm>
          <a:prstGeom prst="rect">
            <a:avLst/>
          </a:prstGeom>
          <a:noFill/>
        </p:spPr>
        <p:txBody>
          <a:bodyPr wrap="square" lIns="0" rIns="0" tIns="0" bIns="0" anchor="t">
            <a:spAutoFit/>
          </a:bodyPr>
          <a:lstStyle/>
          <a:p>
            <a:pPr algn="l">
              <a:lnSpc>
                <a:spcPct val="120000"/>
              </a:lnSpc>
            </a:pPr>
            <a:r>
              <a:rPr sz="1200" b="1">
                <a:solidFill>
                  <a:srgbClr val="E0541B"/>
                </a:solidFill>
                <a:latin typeface="Roboto Mono"/>
              </a:rPr>
              <a:t>09 / 12</a:t>
            </a:r>
          </a:p>
        </p:txBody>
      </p:sp>
      <p:sp>
        <p:nvSpPr>
          <p:cNvPr id="4" name="TextBox 3"/>
          <p:cNvSpPr txBox="1"/>
          <p:nvPr/>
        </p:nvSpPr>
        <p:spPr>
          <a:xfrm>
            <a:off x="640080" y="914400"/>
            <a:ext cx="10515600" cy="914400"/>
          </a:xfrm>
          <a:prstGeom prst="rect">
            <a:avLst/>
          </a:prstGeom>
          <a:noFill/>
        </p:spPr>
        <p:txBody>
          <a:bodyPr wrap="square" lIns="0" rIns="0" tIns="0" bIns="0" anchor="t">
            <a:spAutoFit/>
          </a:bodyPr>
          <a:lstStyle/>
          <a:p>
            <a:pPr algn="l">
              <a:lnSpc>
                <a:spcPct val="110000"/>
              </a:lnSpc>
            </a:pPr>
            <a:r>
              <a:rPr sz="3200" b="1">
                <a:solidFill>
                  <a:srgbClr val="0A0A0A"/>
                </a:solidFill>
                <a:latin typeface="Inter"/>
              </a:rPr>
              <a:t>Publier une mise a jour chaque semaine</a:t>
            </a:r>
          </a:p>
        </p:txBody>
      </p:sp>
      <p:sp>
        <p:nvSpPr>
          <p:cNvPr id="5" name="Rectangle 4"/>
          <p:cNvSpPr/>
          <p:nvPr/>
        </p:nvSpPr>
        <p:spPr>
          <a:xfrm>
            <a:off x="640080" y="1920240"/>
            <a:ext cx="457200" cy="36576"/>
          </a:xfrm>
          <a:prstGeom prst="rect">
            <a:avLst/>
          </a:prstGeom>
          <a:solidFill>
            <a:srgbClr val="E054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286000"/>
            <a:ext cx="5303520" cy="274320"/>
          </a:xfrm>
          <a:prstGeom prst="rect">
            <a:avLst/>
          </a:prstGeom>
          <a:noFill/>
        </p:spPr>
        <p:txBody>
          <a:bodyPr wrap="square" lIns="0" rIns="0" tIns="0" bIns="0" anchor="t">
            <a:spAutoFit/>
          </a:bodyPr>
          <a:lstStyle/>
          <a:p>
            <a:pPr algn="l">
              <a:lnSpc>
                <a:spcPct val="120000"/>
              </a:lnSpc>
            </a:pPr>
            <a:r>
              <a:rPr sz="1000" b="1">
                <a:solidFill>
                  <a:srgbClr val="E0541B"/>
                </a:solidFill>
                <a:latin typeface="Roboto Mono"/>
              </a:rPr>
              <a:t>POURQUOI C'EST IMPORTANT</a:t>
            </a:r>
          </a:p>
        </p:txBody>
      </p:sp>
      <p:sp>
        <p:nvSpPr>
          <p:cNvPr id="7" name="TextBox 6"/>
          <p:cNvSpPr txBox="1"/>
          <p:nvPr/>
        </p:nvSpPr>
        <p:spPr>
          <a:xfrm>
            <a:off x="640080" y="2697480"/>
            <a:ext cx="5303520" cy="2743200"/>
          </a:xfrm>
          <a:prstGeom prst="rect">
            <a:avLst/>
          </a:prstGeom>
          <a:noFill/>
        </p:spPr>
        <p:txBody>
          <a:bodyPr wrap="square" lIns="0" rIns="0" tIns="0" bIns="0" anchor="t">
            <a:spAutoFit/>
          </a:bodyPr>
          <a:lstStyle/>
          <a:p>
            <a:pPr algn="l">
              <a:lnSpc>
                <a:spcPct val="155000"/>
              </a:lnSpc>
            </a:pPr>
            <a:r>
              <a:rPr sz="1300" b="0">
                <a:solidFill>
                  <a:srgbClr val="1A1C18"/>
                </a:solidFill>
                <a:latin typeface="Inter"/>
              </a:rPr>
              <a:t>Publier n'a pas d'effet direct sur le ranking mais une fiche qui publie recoit plus de vues et plus d'interactions - ces signaux d'engagement comptent pour 9 a 11% du classement local (Whitespark 2026). C'est rapide a faire depuis votre telephone, entre deux chantiers.</a:t>
            </a:r>
          </a:p>
        </p:txBody>
      </p:sp>
      <p:sp>
        <p:nvSpPr>
          <p:cNvPr id="8" name="TextBox 7"/>
          <p:cNvSpPr txBox="1"/>
          <p:nvPr/>
        </p:nvSpPr>
        <p:spPr>
          <a:xfrm>
            <a:off x="6263640" y="2286000"/>
            <a:ext cx="5303520" cy="274320"/>
          </a:xfrm>
          <a:prstGeom prst="rect">
            <a:avLst/>
          </a:prstGeom>
          <a:noFill/>
        </p:spPr>
        <p:txBody>
          <a:bodyPr wrap="square" lIns="0" rIns="0" tIns="0" bIns="0" anchor="t">
            <a:spAutoFit/>
          </a:bodyPr>
          <a:lstStyle/>
          <a:p>
            <a:pPr algn="l">
              <a:lnSpc>
                <a:spcPct val="120000"/>
              </a:lnSpc>
            </a:pPr>
            <a:r>
              <a:rPr sz="1000" b="1">
                <a:solidFill>
                  <a:srgbClr val="E0541B"/>
                </a:solidFill>
                <a:latin typeface="Roboto Mono"/>
              </a:rPr>
              <a:t>ACTION CONCRETE</a:t>
            </a:r>
          </a:p>
        </p:txBody>
      </p:sp>
      <p:sp>
        <p:nvSpPr>
          <p:cNvPr id="9" name="TextBox 8"/>
          <p:cNvSpPr txBox="1"/>
          <p:nvPr/>
        </p:nvSpPr>
        <p:spPr>
          <a:xfrm>
            <a:off x="6263640" y="2697480"/>
            <a:ext cx="5303520" cy="3200400"/>
          </a:xfrm>
          <a:prstGeom prst="rect">
            <a:avLst/>
          </a:prstGeom>
          <a:noFill/>
        </p:spPr>
        <p:txBody>
          <a:bodyPr wrap="square" lIns="0" rIns="0" tIns="0" bIns="0">
            <a:spAutoFit/>
          </a:bodyPr>
          <a:lstStyle/>
          <a:p>
            <a:pPr algn="l">
              <a:lnSpc>
                <a:spcPct val="150000"/>
              </a:lnSpc>
              <a:spcAft>
                <a:spcPts val="600"/>
              </a:spcAft>
            </a:pPr>
            <a:r>
              <a:rPr sz="1200" b="1">
                <a:solidFill>
                  <a:srgbClr val="E0541B"/>
                </a:solidFill>
                <a:latin typeface="Inter"/>
              </a:rPr>
              <a:t>1.  </a:t>
            </a:r>
            <a:r>
              <a:rPr sz="1200">
                <a:solidFill>
                  <a:srgbClr val="1A1C18"/>
                </a:solidFill>
                <a:latin typeface="Inter"/>
              </a:rPr>
              <a:t>Modifier le profil &gt; Ajouter une mise a jour (icone + sur mobile)</a:t>
            </a:r>
          </a:p>
          <a:p>
            <a:pPr algn="l">
              <a:lnSpc>
                <a:spcPct val="150000"/>
              </a:lnSpc>
              <a:spcAft>
                <a:spcPts val="600"/>
              </a:spcAft>
            </a:pPr>
            <a:r>
              <a:rPr sz="1200" b="1">
                <a:solidFill>
                  <a:srgbClr val="E0541B"/>
                </a:solidFill>
                <a:latin typeface="Inter"/>
              </a:rPr>
              <a:t>2.  </a:t>
            </a:r>
            <a:r>
              <a:rPr sz="1200">
                <a:solidFill>
                  <a:srgbClr val="1A1C18"/>
                </a:solidFill>
                <a:latin typeface="Inter"/>
              </a:rPr>
              <a:t>Hub Publications : Nouveautes / Offres / Evenements depuis 2025</a:t>
            </a:r>
          </a:p>
          <a:p>
            <a:pPr algn="l">
              <a:lnSpc>
                <a:spcPct val="150000"/>
              </a:lnSpc>
              <a:spcAft>
                <a:spcPts val="600"/>
              </a:spcAft>
            </a:pPr>
            <a:r>
              <a:rPr sz="1200" b="1">
                <a:solidFill>
                  <a:srgbClr val="E0541B"/>
                </a:solidFill>
                <a:latin typeface="Inter"/>
              </a:rPr>
              <a:t>3.  </a:t>
            </a:r>
            <a:r>
              <a:rPr sz="1200">
                <a:solidFill>
                  <a:srgbClr val="1A1C18"/>
                </a:solidFill>
                <a:latin typeface="Inter"/>
              </a:rPr>
              <a:t>1 theme par semaine : chantier termine, conseil saisonnier, aide financiere (MaPrimeRenov)</a:t>
            </a:r>
          </a:p>
          <a:p>
            <a:pPr algn="l">
              <a:lnSpc>
                <a:spcPct val="150000"/>
              </a:lnSpc>
              <a:spcAft>
                <a:spcPts val="600"/>
              </a:spcAft>
            </a:pPr>
            <a:r>
              <a:rPr sz="1200" b="1">
                <a:solidFill>
                  <a:srgbClr val="E0541B"/>
                </a:solidFill>
                <a:latin typeface="Inter"/>
              </a:rPr>
              <a:t>4.  </a:t>
            </a:r>
            <a:r>
              <a:rPr sz="1200">
                <a:solidFill>
                  <a:srgbClr val="1A1C18"/>
                </a:solidFill>
                <a:latin typeface="Inter"/>
              </a:rPr>
              <a:t>1 photo + 100-200 mots suffisent</a:t>
            </a:r>
          </a:p>
          <a:p>
            <a:pPr algn="l">
              <a:lnSpc>
                <a:spcPct val="150000"/>
              </a:lnSpc>
              <a:spcAft>
                <a:spcPts val="600"/>
              </a:spcAft>
            </a:pPr>
            <a:r>
              <a:rPr sz="1200" b="1">
                <a:solidFill>
                  <a:srgbClr val="E0541B"/>
                </a:solidFill>
                <a:latin typeface="Inter"/>
              </a:rPr>
              <a:t>5.  </a:t>
            </a:r>
            <a:r>
              <a:rPr sz="1200">
                <a:solidFill>
                  <a:srgbClr val="1A1C18"/>
                </a:solidFill>
                <a:latin typeface="Inter"/>
              </a:rPr>
              <a:t>Bloquez un creneau fixe le vendredi matin</a:t>
            </a:r>
          </a:p>
        </p:txBody>
      </p:sp>
      <p:sp>
        <p:nvSpPr>
          <p:cNvPr id="10" name="Rectangle 9"/>
          <p:cNvSpPr/>
          <p:nvPr/>
        </p:nvSpPr>
        <p:spPr>
          <a:xfrm>
            <a:off x="640080" y="5852160"/>
            <a:ext cx="256032" cy="256032"/>
          </a:xfrm>
          <a:prstGeom prst="rect">
            <a:avLst/>
          </a:prstGeom>
          <a:solidFill>
            <a:srgbClr val="F3F2EE"/>
          </a:solidFill>
          <a:ln w="15240">
            <a:solidFill>
              <a:srgbClr val="1A1C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5815584"/>
            <a:ext cx="1828800" cy="365760"/>
          </a:xfrm>
          <a:prstGeom prst="rect">
            <a:avLst/>
          </a:prstGeom>
          <a:noFill/>
        </p:spPr>
        <p:txBody>
          <a:bodyPr wrap="square" lIns="0" rIns="0" tIns="0" bIns="0" anchor="t">
            <a:spAutoFit/>
          </a:bodyPr>
          <a:lstStyle/>
          <a:p>
            <a:pPr algn="l">
              <a:lnSpc>
                <a:spcPct val="120000"/>
              </a:lnSpc>
            </a:pPr>
            <a:r>
              <a:rPr sz="1200" b="0">
                <a:solidFill>
                  <a:srgbClr val="1A1C18"/>
                </a:solidFill>
                <a:latin typeface="Inter"/>
              </a:rPr>
              <a:t>Fait</a:t>
            </a:r>
          </a:p>
        </p:txBody>
      </p:sp>
      <p:sp>
        <p:nvSpPr>
          <p:cNvPr id="12" name="Rectangle 11"/>
          <p:cNvSpPr/>
          <p:nvPr/>
        </p:nvSpPr>
        <p:spPr>
          <a:xfrm>
            <a:off x="6995160" y="5806440"/>
            <a:ext cx="4572000" cy="502920"/>
          </a:xfrm>
          <a:prstGeom prst="rect">
            <a:avLst/>
          </a:prstGeom>
          <a:solidFill>
            <a:srgbClr val="EBE7DC"/>
          </a:solidFill>
          <a:ln w="6350">
            <a:solidFill>
              <a:srgbClr val="D5D2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95160" y="5806440"/>
            <a:ext cx="4572000" cy="502920"/>
          </a:xfrm>
          <a:prstGeom prst="rect">
            <a:avLst/>
          </a:prstGeom>
          <a:noFill/>
        </p:spPr>
        <p:txBody>
          <a:bodyPr wrap="square" lIns="0" rIns="0" tIns="0" bIns="0" anchor="ctr">
            <a:spAutoFit/>
          </a:bodyPr>
          <a:lstStyle/>
          <a:p>
            <a:pPr algn="ctr">
              <a:lnSpc>
                <a:spcPct val="150000"/>
              </a:lnSpc>
            </a:pPr>
            <a:r>
              <a:rPr sz="1000" b="0">
                <a:solidFill>
                  <a:srgbClr val="5A5D56"/>
                </a:solidFill>
                <a:latin typeface="Roboto Mono"/>
              </a:rPr>
              <a:t>⎘   CAPTURE À INSERER
Hub Publications - GBP</a:t>
            </a:r>
          </a:p>
        </p:txBody>
      </p:sp>
      <p:sp>
        <p:nvSpPr>
          <p:cNvPr id="14" name="TextBox 13"/>
          <p:cNvSpPr txBox="1"/>
          <p:nvPr/>
        </p:nvSpPr>
        <p:spPr>
          <a:xfrm>
            <a:off x="640080" y="6446520"/>
            <a:ext cx="6400800" cy="274320"/>
          </a:xfrm>
          <a:prstGeom prst="rect">
            <a:avLst/>
          </a:prstGeom>
          <a:noFill/>
        </p:spPr>
        <p:txBody>
          <a:bodyPr wrap="square" lIns="0" rIns="0" tIns="0" bIns="0" anchor="t">
            <a:spAutoFit/>
          </a:bodyPr>
          <a:lstStyle/>
          <a:p>
            <a:pPr algn="l">
              <a:lnSpc>
                <a:spcPct val="120000"/>
              </a:lnSpc>
            </a:pPr>
            <a:r>
              <a:rPr sz="800" b="0">
                <a:solidFill>
                  <a:srgbClr val="5A5D56"/>
                </a:solidFill>
                <a:latin typeface="Roboto Mono"/>
              </a:rPr>
              <a:t>CARNET PLEIN® BY MAD MAKERS  ·  BONUS #1 · FICHE GOOGLE PARFAITE</a:t>
            </a:r>
          </a:p>
        </p:txBody>
      </p:sp>
      <p:sp>
        <p:nvSpPr>
          <p:cNvPr id="15" name="TextBox 14"/>
          <p:cNvSpPr txBox="1"/>
          <p:nvPr/>
        </p:nvSpPr>
        <p:spPr>
          <a:xfrm>
            <a:off x="10607040" y="6446520"/>
            <a:ext cx="1005840" cy="274320"/>
          </a:xfrm>
          <a:prstGeom prst="rect">
            <a:avLst/>
          </a:prstGeom>
          <a:noFill/>
        </p:spPr>
        <p:txBody>
          <a:bodyPr wrap="square" lIns="0" rIns="0" tIns="0" bIns="0" anchor="t">
            <a:spAutoFit/>
          </a:bodyPr>
          <a:lstStyle/>
          <a:p>
            <a:pPr algn="r">
              <a:lnSpc>
                <a:spcPct val="120000"/>
              </a:lnSpc>
            </a:pPr>
            <a:r>
              <a:rPr sz="800" b="0">
                <a:solidFill>
                  <a:srgbClr val="5A5D56"/>
                </a:solidFill>
                <a:latin typeface="Roboto Mono"/>
              </a:rPr>
              <a:t>11 / 18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371600" cy="365760"/>
          </a:xfrm>
          <a:prstGeom prst="rect">
            <a:avLst/>
          </a:prstGeom>
          <a:noFill/>
        </p:spPr>
        <p:txBody>
          <a:bodyPr wrap="square" lIns="0" rIns="0" tIns="0" bIns="0" anchor="t">
            <a:spAutoFit/>
          </a:bodyPr>
          <a:lstStyle/>
          <a:p>
            <a:pPr algn="l">
              <a:lnSpc>
                <a:spcPct val="120000"/>
              </a:lnSpc>
            </a:pPr>
            <a:r>
              <a:rPr sz="1200" b="1">
                <a:solidFill>
                  <a:srgbClr val="E0541B"/>
                </a:solidFill>
                <a:latin typeface="Roboto Mono"/>
              </a:rPr>
              <a:t>10 / 12</a:t>
            </a:r>
          </a:p>
        </p:txBody>
      </p:sp>
      <p:sp>
        <p:nvSpPr>
          <p:cNvPr id="4" name="TextBox 3"/>
          <p:cNvSpPr txBox="1"/>
          <p:nvPr/>
        </p:nvSpPr>
        <p:spPr>
          <a:xfrm>
            <a:off x="640080" y="914400"/>
            <a:ext cx="10515600" cy="914400"/>
          </a:xfrm>
          <a:prstGeom prst="rect">
            <a:avLst/>
          </a:prstGeom>
          <a:noFill/>
        </p:spPr>
        <p:txBody>
          <a:bodyPr wrap="square" lIns="0" rIns="0" tIns="0" bIns="0" anchor="t">
            <a:spAutoFit/>
          </a:bodyPr>
          <a:lstStyle/>
          <a:p>
            <a:pPr algn="l">
              <a:lnSpc>
                <a:spcPct val="110000"/>
              </a:lnSpc>
            </a:pPr>
            <a:r>
              <a:rPr sz="3200" b="1">
                <a:solidFill>
                  <a:srgbClr val="0A0A0A"/>
                </a:solidFill>
                <a:latin typeface="Inter"/>
              </a:rPr>
              <a:t>Demander un avis apres chaque chantier</a:t>
            </a:r>
          </a:p>
        </p:txBody>
      </p:sp>
      <p:sp>
        <p:nvSpPr>
          <p:cNvPr id="5" name="Rectangle 4"/>
          <p:cNvSpPr/>
          <p:nvPr/>
        </p:nvSpPr>
        <p:spPr>
          <a:xfrm>
            <a:off x="640080" y="1920240"/>
            <a:ext cx="457200" cy="36576"/>
          </a:xfrm>
          <a:prstGeom prst="rect">
            <a:avLst/>
          </a:prstGeom>
          <a:solidFill>
            <a:srgbClr val="E054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286000"/>
            <a:ext cx="5303520" cy="274320"/>
          </a:xfrm>
          <a:prstGeom prst="rect">
            <a:avLst/>
          </a:prstGeom>
          <a:noFill/>
        </p:spPr>
        <p:txBody>
          <a:bodyPr wrap="square" lIns="0" rIns="0" tIns="0" bIns="0" anchor="t">
            <a:spAutoFit/>
          </a:bodyPr>
          <a:lstStyle/>
          <a:p>
            <a:pPr algn="l">
              <a:lnSpc>
                <a:spcPct val="120000"/>
              </a:lnSpc>
            </a:pPr>
            <a:r>
              <a:rPr sz="1000" b="1">
                <a:solidFill>
                  <a:srgbClr val="E0541B"/>
                </a:solidFill>
                <a:latin typeface="Roboto Mono"/>
              </a:rPr>
              <a:t>POURQUOI C'EST IMPORTANT</a:t>
            </a:r>
          </a:p>
        </p:txBody>
      </p:sp>
      <p:sp>
        <p:nvSpPr>
          <p:cNvPr id="7" name="TextBox 6"/>
          <p:cNvSpPr txBox="1"/>
          <p:nvPr/>
        </p:nvSpPr>
        <p:spPr>
          <a:xfrm>
            <a:off x="640080" y="2697480"/>
            <a:ext cx="5303520" cy="2743200"/>
          </a:xfrm>
          <a:prstGeom prst="rect">
            <a:avLst/>
          </a:prstGeom>
          <a:noFill/>
        </p:spPr>
        <p:txBody>
          <a:bodyPr wrap="square" lIns="0" rIns="0" tIns="0" bIns="0" anchor="t">
            <a:spAutoFit/>
          </a:bodyPr>
          <a:lstStyle/>
          <a:p>
            <a:pPr algn="l">
              <a:lnSpc>
                <a:spcPct val="155000"/>
              </a:lnSpc>
            </a:pPr>
            <a:r>
              <a:rPr sz="1300" b="0">
                <a:solidFill>
                  <a:srgbClr val="1A1C18"/>
                </a:solidFill>
                <a:latin typeface="Inter"/>
              </a:rPr>
              <a:t>Les avis pesent 16 a 20% du classement Local Pack (Whitespark 2026) : c'est le 2e facteur apres votre fiche elle-meme. Un client content ne laisse pas d'avis spontanement, il faut le demander. C'est chiant a mettre en place, c'est ce qui debloque le plus de prospects sur la duree.</a:t>
            </a:r>
          </a:p>
        </p:txBody>
      </p:sp>
      <p:sp>
        <p:nvSpPr>
          <p:cNvPr id="8" name="TextBox 7"/>
          <p:cNvSpPr txBox="1"/>
          <p:nvPr/>
        </p:nvSpPr>
        <p:spPr>
          <a:xfrm>
            <a:off x="6263640" y="2286000"/>
            <a:ext cx="5303520" cy="274320"/>
          </a:xfrm>
          <a:prstGeom prst="rect">
            <a:avLst/>
          </a:prstGeom>
          <a:noFill/>
        </p:spPr>
        <p:txBody>
          <a:bodyPr wrap="square" lIns="0" rIns="0" tIns="0" bIns="0" anchor="t">
            <a:spAutoFit/>
          </a:bodyPr>
          <a:lstStyle/>
          <a:p>
            <a:pPr algn="l">
              <a:lnSpc>
                <a:spcPct val="120000"/>
              </a:lnSpc>
            </a:pPr>
            <a:r>
              <a:rPr sz="1000" b="1">
                <a:solidFill>
                  <a:srgbClr val="E0541B"/>
                </a:solidFill>
                <a:latin typeface="Roboto Mono"/>
              </a:rPr>
              <a:t>ACTION CONCRETE</a:t>
            </a:r>
          </a:p>
        </p:txBody>
      </p:sp>
      <p:sp>
        <p:nvSpPr>
          <p:cNvPr id="9" name="TextBox 8"/>
          <p:cNvSpPr txBox="1"/>
          <p:nvPr/>
        </p:nvSpPr>
        <p:spPr>
          <a:xfrm>
            <a:off x="6263640" y="2697480"/>
            <a:ext cx="5303520" cy="3200400"/>
          </a:xfrm>
          <a:prstGeom prst="rect">
            <a:avLst/>
          </a:prstGeom>
          <a:noFill/>
        </p:spPr>
        <p:txBody>
          <a:bodyPr wrap="square" lIns="0" rIns="0" tIns="0" bIns="0">
            <a:spAutoFit/>
          </a:bodyPr>
          <a:lstStyle/>
          <a:p>
            <a:pPr algn="l">
              <a:lnSpc>
                <a:spcPct val="150000"/>
              </a:lnSpc>
              <a:spcAft>
                <a:spcPts val="600"/>
              </a:spcAft>
            </a:pPr>
            <a:r>
              <a:rPr sz="1200" b="1">
                <a:solidFill>
                  <a:srgbClr val="E0541B"/>
                </a:solidFill>
                <a:latin typeface="Inter"/>
              </a:rPr>
              <a:t>1.  </a:t>
            </a:r>
            <a:r>
              <a:rPr sz="1200">
                <a:solidFill>
                  <a:srgbClr val="1A1C18"/>
                </a:solidFill>
                <a:latin typeface="Inter"/>
              </a:rPr>
              <a:t>Modifier le profil &gt; Avis &gt; Demandez plus d'avis (ordinateur uniquement, pas mobile)</a:t>
            </a:r>
          </a:p>
          <a:p>
            <a:pPr algn="l">
              <a:lnSpc>
                <a:spcPct val="150000"/>
              </a:lnSpc>
              <a:spcAft>
                <a:spcPts val="600"/>
              </a:spcAft>
            </a:pPr>
            <a:r>
              <a:rPr sz="1200" b="1">
                <a:solidFill>
                  <a:srgbClr val="E0541B"/>
                </a:solidFill>
                <a:latin typeface="Inter"/>
              </a:rPr>
              <a:t>2.  </a:t>
            </a:r>
            <a:r>
              <a:rPr sz="1200">
                <a:solidFill>
                  <a:srgbClr val="1A1C18"/>
                </a:solidFill>
                <a:latin typeface="Inter"/>
              </a:rPr>
              <a:t>Google genere un lien court personnalise (g.page/r/... ou g.co/r/...) + QR code</a:t>
            </a:r>
          </a:p>
          <a:p>
            <a:pPr algn="l">
              <a:lnSpc>
                <a:spcPct val="150000"/>
              </a:lnSpc>
              <a:spcAft>
                <a:spcPts val="600"/>
              </a:spcAft>
            </a:pPr>
            <a:r>
              <a:rPr sz="1200" b="1">
                <a:solidFill>
                  <a:srgbClr val="E0541B"/>
                </a:solidFill>
                <a:latin typeface="Inter"/>
              </a:rPr>
              <a:t>3.  </a:t>
            </a:r>
            <a:r>
              <a:rPr sz="1200">
                <a:solidFill>
                  <a:srgbClr val="1A1C18"/>
                </a:solidFill>
                <a:latin typeface="Inter"/>
              </a:rPr>
              <a:t>Demandez le jour meme de la fin de chantier, pas 3 semaines apres</a:t>
            </a:r>
          </a:p>
          <a:p>
            <a:pPr algn="l">
              <a:lnSpc>
                <a:spcPct val="150000"/>
              </a:lnSpc>
              <a:spcAft>
                <a:spcPts val="600"/>
              </a:spcAft>
            </a:pPr>
            <a:r>
              <a:rPr sz="1200" b="1">
                <a:solidFill>
                  <a:srgbClr val="E0541B"/>
                </a:solidFill>
                <a:latin typeface="Inter"/>
              </a:rPr>
              <a:t>4.  </a:t>
            </a:r>
            <a:r>
              <a:rPr sz="1200">
                <a:solidFill>
                  <a:srgbClr val="1A1C18"/>
                </a:solidFill>
                <a:latin typeface="Inter"/>
              </a:rPr>
              <a:t>SMS type : Bonjour M. Dupont, content que l'installation soit OK. Si vous avez 30 secondes, un avis Google nous aiderait : [lien]</a:t>
            </a:r>
          </a:p>
          <a:p>
            <a:pPr algn="l">
              <a:lnSpc>
                <a:spcPct val="150000"/>
              </a:lnSpc>
              <a:spcAft>
                <a:spcPts val="600"/>
              </a:spcAft>
            </a:pPr>
            <a:r>
              <a:rPr sz="1200" b="1">
                <a:solidFill>
                  <a:srgbClr val="E0541B"/>
                </a:solidFill>
                <a:latin typeface="Inter"/>
              </a:rPr>
              <a:t>5.  </a:t>
            </a:r>
            <a:r>
              <a:rPr sz="1200">
                <a:solidFill>
                  <a:srgbClr val="1A1C18"/>
                </a:solidFill>
                <a:latin typeface="Inter"/>
              </a:rPr>
              <a:t>Imprimez le QR code sur vos factures</a:t>
            </a:r>
          </a:p>
        </p:txBody>
      </p:sp>
      <p:sp>
        <p:nvSpPr>
          <p:cNvPr id="10" name="Rectangle 9"/>
          <p:cNvSpPr/>
          <p:nvPr/>
        </p:nvSpPr>
        <p:spPr>
          <a:xfrm>
            <a:off x="640080" y="5852160"/>
            <a:ext cx="256032" cy="256032"/>
          </a:xfrm>
          <a:prstGeom prst="rect">
            <a:avLst/>
          </a:prstGeom>
          <a:solidFill>
            <a:srgbClr val="F3F2EE"/>
          </a:solidFill>
          <a:ln w="15240">
            <a:solidFill>
              <a:srgbClr val="1A1C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5815584"/>
            <a:ext cx="1828800" cy="365760"/>
          </a:xfrm>
          <a:prstGeom prst="rect">
            <a:avLst/>
          </a:prstGeom>
          <a:noFill/>
        </p:spPr>
        <p:txBody>
          <a:bodyPr wrap="square" lIns="0" rIns="0" tIns="0" bIns="0" anchor="t">
            <a:spAutoFit/>
          </a:bodyPr>
          <a:lstStyle/>
          <a:p>
            <a:pPr algn="l">
              <a:lnSpc>
                <a:spcPct val="120000"/>
              </a:lnSpc>
            </a:pPr>
            <a:r>
              <a:rPr sz="1200" b="0">
                <a:solidFill>
                  <a:srgbClr val="1A1C18"/>
                </a:solidFill>
                <a:latin typeface="Inter"/>
              </a:rPr>
              <a:t>Fait</a:t>
            </a:r>
          </a:p>
        </p:txBody>
      </p:sp>
      <p:sp>
        <p:nvSpPr>
          <p:cNvPr id="12" name="Rectangle 11"/>
          <p:cNvSpPr/>
          <p:nvPr/>
        </p:nvSpPr>
        <p:spPr>
          <a:xfrm>
            <a:off x="6995160" y="5806440"/>
            <a:ext cx="4572000" cy="502920"/>
          </a:xfrm>
          <a:prstGeom prst="rect">
            <a:avLst/>
          </a:prstGeom>
          <a:solidFill>
            <a:srgbClr val="EBE7DC"/>
          </a:solidFill>
          <a:ln w="6350">
            <a:solidFill>
              <a:srgbClr val="D5D2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95160" y="5806440"/>
            <a:ext cx="4572000" cy="502920"/>
          </a:xfrm>
          <a:prstGeom prst="rect">
            <a:avLst/>
          </a:prstGeom>
          <a:noFill/>
        </p:spPr>
        <p:txBody>
          <a:bodyPr wrap="square" lIns="0" rIns="0" tIns="0" bIns="0" anchor="ctr">
            <a:spAutoFit/>
          </a:bodyPr>
          <a:lstStyle/>
          <a:p>
            <a:pPr algn="ctr">
              <a:lnSpc>
                <a:spcPct val="150000"/>
              </a:lnSpc>
            </a:pPr>
            <a:r>
              <a:rPr sz="1000" b="0">
                <a:solidFill>
                  <a:srgbClr val="5A5D56"/>
                </a:solidFill>
                <a:latin typeface="Roboto Mono"/>
              </a:rPr>
              <a:t>⎘   CAPTURE À INSERER
Bouton Demandez plus d'avis - GBP</a:t>
            </a:r>
          </a:p>
        </p:txBody>
      </p:sp>
      <p:sp>
        <p:nvSpPr>
          <p:cNvPr id="14" name="TextBox 13"/>
          <p:cNvSpPr txBox="1"/>
          <p:nvPr/>
        </p:nvSpPr>
        <p:spPr>
          <a:xfrm>
            <a:off x="640080" y="6446520"/>
            <a:ext cx="6400800" cy="274320"/>
          </a:xfrm>
          <a:prstGeom prst="rect">
            <a:avLst/>
          </a:prstGeom>
          <a:noFill/>
        </p:spPr>
        <p:txBody>
          <a:bodyPr wrap="square" lIns="0" rIns="0" tIns="0" bIns="0" anchor="t">
            <a:spAutoFit/>
          </a:bodyPr>
          <a:lstStyle/>
          <a:p>
            <a:pPr algn="l">
              <a:lnSpc>
                <a:spcPct val="120000"/>
              </a:lnSpc>
            </a:pPr>
            <a:r>
              <a:rPr sz="800" b="0">
                <a:solidFill>
                  <a:srgbClr val="5A5D56"/>
                </a:solidFill>
                <a:latin typeface="Roboto Mono"/>
              </a:rPr>
              <a:t>CARNET PLEIN® BY MAD MAKERS  ·  BONUS #1 · FICHE GOOGLE PARFAITE</a:t>
            </a:r>
          </a:p>
        </p:txBody>
      </p:sp>
      <p:sp>
        <p:nvSpPr>
          <p:cNvPr id="15" name="TextBox 14"/>
          <p:cNvSpPr txBox="1"/>
          <p:nvPr/>
        </p:nvSpPr>
        <p:spPr>
          <a:xfrm>
            <a:off x="10607040" y="6446520"/>
            <a:ext cx="1005840" cy="274320"/>
          </a:xfrm>
          <a:prstGeom prst="rect">
            <a:avLst/>
          </a:prstGeom>
          <a:noFill/>
        </p:spPr>
        <p:txBody>
          <a:bodyPr wrap="square" lIns="0" rIns="0" tIns="0" bIns="0" anchor="t">
            <a:spAutoFit/>
          </a:bodyPr>
          <a:lstStyle/>
          <a:p>
            <a:pPr algn="r">
              <a:lnSpc>
                <a:spcPct val="120000"/>
              </a:lnSpc>
            </a:pPr>
            <a:r>
              <a:rPr sz="800" b="0">
                <a:solidFill>
                  <a:srgbClr val="5A5D56"/>
                </a:solidFill>
                <a:latin typeface="Roboto Mono"/>
              </a:rPr>
              <a:t>12 / 18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371600" cy="365760"/>
          </a:xfrm>
          <a:prstGeom prst="rect">
            <a:avLst/>
          </a:prstGeom>
          <a:noFill/>
        </p:spPr>
        <p:txBody>
          <a:bodyPr wrap="square" lIns="0" rIns="0" tIns="0" bIns="0" anchor="t">
            <a:spAutoFit/>
          </a:bodyPr>
          <a:lstStyle/>
          <a:p>
            <a:pPr algn="l">
              <a:lnSpc>
                <a:spcPct val="120000"/>
              </a:lnSpc>
            </a:pPr>
            <a:r>
              <a:rPr sz="1200" b="1">
                <a:solidFill>
                  <a:srgbClr val="E0541B"/>
                </a:solidFill>
                <a:latin typeface="Roboto Mono"/>
              </a:rPr>
              <a:t>11 / 12</a:t>
            </a:r>
          </a:p>
        </p:txBody>
      </p:sp>
      <p:sp>
        <p:nvSpPr>
          <p:cNvPr id="4" name="TextBox 3"/>
          <p:cNvSpPr txBox="1"/>
          <p:nvPr/>
        </p:nvSpPr>
        <p:spPr>
          <a:xfrm>
            <a:off x="640080" y="914400"/>
            <a:ext cx="10515600" cy="914400"/>
          </a:xfrm>
          <a:prstGeom prst="rect">
            <a:avLst/>
          </a:prstGeom>
          <a:noFill/>
        </p:spPr>
        <p:txBody>
          <a:bodyPr wrap="square" lIns="0" rIns="0" tIns="0" bIns="0" anchor="t">
            <a:spAutoFit/>
          </a:bodyPr>
          <a:lstStyle/>
          <a:p>
            <a:pPr algn="l">
              <a:lnSpc>
                <a:spcPct val="110000"/>
              </a:lnSpc>
            </a:pPr>
            <a:r>
              <a:rPr sz="3200" b="1">
                <a:solidFill>
                  <a:srgbClr val="0A0A0A"/>
                </a:solidFill>
                <a:latin typeface="Inter"/>
              </a:rPr>
              <a:t>Repondre a tous les avis</a:t>
            </a:r>
          </a:p>
        </p:txBody>
      </p:sp>
      <p:sp>
        <p:nvSpPr>
          <p:cNvPr id="5" name="Rectangle 4"/>
          <p:cNvSpPr/>
          <p:nvPr/>
        </p:nvSpPr>
        <p:spPr>
          <a:xfrm>
            <a:off x="640080" y="1920240"/>
            <a:ext cx="457200" cy="36576"/>
          </a:xfrm>
          <a:prstGeom prst="rect">
            <a:avLst/>
          </a:prstGeom>
          <a:solidFill>
            <a:srgbClr val="E054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286000"/>
            <a:ext cx="5303520" cy="274320"/>
          </a:xfrm>
          <a:prstGeom prst="rect">
            <a:avLst/>
          </a:prstGeom>
          <a:noFill/>
        </p:spPr>
        <p:txBody>
          <a:bodyPr wrap="square" lIns="0" rIns="0" tIns="0" bIns="0" anchor="t">
            <a:spAutoFit/>
          </a:bodyPr>
          <a:lstStyle/>
          <a:p>
            <a:pPr algn="l">
              <a:lnSpc>
                <a:spcPct val="120000"/>
              </a:lnSpc>
            </a:pPr>
            <a:r>
              <a:rPr sz="1000" b="1">
                <a:solidFill>
                  <a:srgbClr val="E0541B"/>
                </a:solidFill>
                <a:latin typeface="Roboto Mono"/>
              </a:rPr>
              <a:t>POURQUOI C'EST IMPORTANT</a:t>
            </a:r>
          </a:p>
        </p:txBody>
      </p:sp>
      <p:sp>
        <p:nvSpPr>
          <p:cNvPr id="7" name="TextBox 6"/>
          <p:cNvSpPr txBox="1"/>
          <p:nvPr/>
        </p:nvSpPr>
        <p:spPr>
          <a:xfrm>
            <a:off x="640080" y="2697480"/>
            <a:ext cx="5303520" cy="2743200"/>
          </a:xfrm>
          <a:prstGeom prst="rect">
            <a:avLst/>
          </a:prstGeom>
          <a:noFill/>
        </p:spPr>
        <p:txBody>
          <a:bodyPr wrap="square" lIns="0" rIns="0" tIns="0" bIns="0" anchor="t">
            <a:spAutoFit/>
          </a:bodyPr>
          <a:lstStyle/>
          <a:p>
            <a:pPr algn="l">
              <a:lnSpc>
                <a:spcPct val="155000"/>
              </a:lnSpc>
            </a:pPr>
            <a:r>
              <a:rPr sz="1300" b="0">
                <a:solidFill>
                  <a:srgbClr val="1A1C18"/>
                </a:solidFill>
                <a:latin typeface="Inter"/>
              </a:rPr>
              <a:t>88% des consommateurs preferent les entreprises qui repondent a tous leurs avis (BrightLocal 2024). Les fiches qui repondent a plus de 80% beneficient d'un boost mesurable. Surtout sur les avis negatifs : un avis 1 etoile sans reponse fait fuir, le meme avec une reponse calme et factuelle rassure.</a:t>
            </a:r>
          </a:p>
        </p:txBody>
      </p:sp>
      <p:sp>
        <p:nvSpPr>
          <p:cNvPr id="8" name="TextBox 7"/>
          <p:cNvSpPr txBox="1"/>
          <p:nvPr/>
        </p:nvSpPr>
        <p:spPr>
          <a:xfrm>
            <a:off x="6263640" y="2286000"/>
            <a:ext cx="5303520" cy="274320"/>
          </a:xfrm>
          <a:prstGeom prst="rect">
            <a:avLst/>
          </a:prstGeom>
          <a:noFill/>
        </p:spPr>
        <p:txBody>
          <a:bodyPr wrap="square" lIns="0" rIns="0" tIns="0" bIns="0" anchor="t">
            <a:spAutoFit/>
          </a:bodyPr>
          <a:lstStyle/>
          <a:p>
            <a:pPr algn="l">
              <a:lnSpc>
                <a:spcPct val="120000"/>
              </a:lnSpc>
            </a:pPr>
            <a:r>
              <a:rPr sz="1000" b="1">
                <a:solidFill>
                  <a:srgbClr val="E0541B"/>
                </a:solidFill>
                <a:latin typeface="Roboto Mono"/>
              </a:rPr>
              <a:t>ACTION CONCRETE</a:t>
            </a:r>
          </a:p>
        </p:txBody>
      </p:sp>
      <p:sp>
        <p:nvSpPr>
          <p:cNvPr id="9" name="TextBox 8"/>
          <p:cNvSpPr txBox="1"/>
          <p:nvPr/>
        </p:nvSpPr>
        <p:spPr>
          <a:xfrm>
            <a:off x="6263640" y="2697480"/>
            <a:ext cx="5303520" cy="3200400"/>
          </a:xfrm>
          <a:prstGeom prst="rect">
            <a:avLst/>
          </a:prstGeom>
          <a:noFill/>
        </p:spPr>
        <p:txBody>
          <a:bodyPr wrap="square" lIns="0" rIns="0" tIns="0" bIns="0">
            <a:spAutoFit/>
          </a:bodyPr>
          <a:lstStyle/>
          <a:p>
            <a:pPr algn="l">
              <a:lnSpc>
                <a:spcPct val="150000"/>
              </a:lnSpc>
              <a:spcAft>
                <a:spcPts val="600"/>
              </a:spcAft>
            </a:pPr>
            <a:r>
              <a:rPr sz="1200" b="1">
                <a:solidFill>
                  <a:srgbClr val="E0541B"/>
                </a:solidFill>
                <a:latin typeface="Inter"/>
              </a:rPr>
              <a:t>1.  </a:t>
            </a:r>
            <a:r>
              <a:rPr sz="1200">
                <a:solidFill>
                  <a:srgbClr val="1A1C18"/>
                </a:solidFill>
                <a:latin typeface="Inter"/>
              </a:rPr>
              <a:t>Modifier le profil &gt; Avis</a:t>
            </a:r>
          </a:p>
          <a:p>
            <a:pPr algn="l">
              <a:lnSpc>
                <a:spcPct val="150000"/>
              </a:lnSpc>
              <a:spcAft>
                <a:spcPts val="600"/>
              </a:spcAft>
            </a:pPr>
            <a:r>
              <a:rPr sz="1200" b="1">
                <a:solidFill>
                  <a:srgbClr val="E0541B"/>
                </a:solidFill>
                <a:latin typeface="Inter"/>
              </a:rPr>
              <a:t>2.  </a:t>
            </a:r>
            <a:r>
              <a:rPr sz="1200">
                <a:solidFill>
                  <a:srgbClr val="1A1C18"/>
                </a:solidFill>
                <a:latin typeface="Inter"/>
              </a:rPr>
              <a:t>Delais : 48-72h pour un avis negatif, 1 semaine pour un positif</a:t>
            </a:r>
          </a:p>
          <a:p>
            <a:pPr algn="l">
              <a:lnSpc>
                <a:spcPct val="150000"/>
              </a:lnSpc>
              <a:spcAft>
                <a:spcPts val="600"/>
              </a:spcAft>
            </a:pPr>
            <a:r>
              <a:rPr sz="1200" b="1">
                <a:solidFill>
                  <a:srgbClr val="E0541B"/>
                </a:solidFill>
                <a:latin typeface="Inter"/>
              </a:rPr>
              <a:t>3.  </a:t>
            </a:r>
            <a:r>
              <a:rPr sz="1200">
                <a:solidFill>
                  <a:srgbClr val="1A1C18"/>
                </a:solidFill>
                <a:latin typeface="Inter"/>
              </a:rPr>
              <a:t>Reponse positif en 2 lignes : remerciez, mentionnez le type de prestation</a:t>
            </a:r>
          </a:p>
          <a:p>
            <a:pPr algn="l">
              <a:lnSpc>
                <a:spcPct val="150000"/>
              </a:lnSpc>
              <a:spcAft>
                <a:spcPts val="600"/>
              </a:spcAft>
            </a:pPr>
            <a:r>
              <a:rPr sz="1200" b="1">
                <a:solidFill>
                  <a:srgbClr val="E0541B"/>
                </a:solidFill>
                <a:latin typeface="Inter"/>
              </a:rPr>
              <a:t>4.  </a:t>
            </a:r>
            <a:r>
              <a:rPr sz="1200">
                <a:solidFill>
                  <a:srgbClr val="1A1C18"/>
                </a:solidFill>
                <a:latin typeface="Inter"/>
              </a:rPr>
              <a:t>Avis negatif : Bonjour [prenom], merci pour votre retour. Nous prenons note de votre deception. Pouvez-vous nous contacter au [numero] pour qu'on regarde ensemble ?</a:t>
            </a:r>
          </a:p>
          <a:p>
            <a:pPr algn="l">
              <a:lnSpc>
                <a:spcPct val="150000"/>
              </a:lnSpc>
              <a:spcAft>
                <a:spcPts val="600"/>
              </a:spcAft>
            </a:pPr>
            <a:r>
              <a:rPr sz="1200" b="1">
                <a:solidFill>
                  <a:srgbClr val="E0541B"/>
                </a:solidFill>
                <a:latin typeface="Inter"/>
              </a:rPr>
              <a:t>5.  </a:t>
            </a:r>
            <a:r>
              <a:rPr sz="1200">
                <a:solidFill>
                  <a:srgbClr val="1A1C18"/>
                </a:solidFill>
                <a:latin typeface="Inter"/>
              </a:rPr>
              <a:t>Ne supprimez pas, ne contredisez pas publiquement. 15 min chaque lundi matin</a:t>
            </a:r>
          </a:p>
        </p:txBody>
      </p:sp>
      <p:sp>
        <p:nvSpPr>
          <p:cNvPr id="10" name="Rectangle 9"/>
          <p:cNvSpPr/>
          <p:nvPr/>
        </p:nvSpPr>
        <p:spPr>
          <a:xfrm>
            <a:off x="640080" y="5852160"/>
            <a:ext cx="256032" cy="256032"/>
          </a:xfrm>
          <a:prstGeom prst="rect">
            <a:avLst/>
          </a:prstGeom>
          <a:solidFill>
            <a:srgbClr val="F3F2EE"/>
          </a:solidFill>
          <a:ln w="15240">
            <a:solidFill>
              <a:srgbClr val="1A1C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5815584"/>
            <a:ext cx="1828800" cy="365760"/>
          </a:xfrm>
          <a:prstGeom prst="rect">
            <a:avLst/>
          </a:prstGeom>
          <a:noFill/>
        </p:spPr>
        <p:txBody>
          <a:bodyPr wrap="square" lIns="0" rIns="0" tIns="0" bIns="0" anchor="t">
            <a:spAutoFit/>
          </a:bodyPr>
          <a:lstStyle/>
          <a:p>
            <a:pPr algn="l">
              <a:lnSpc>
                <a:spcPct val="120000"/>
              </a:lnSpc>
            </a:pPr>
            <a:r>
              <a:rPr sz="1200" b="0">
                <a:solidFill>
                  <a:srgbClr val="1A1C18"/>
                </a:solidFill>
                <a:latin typeface="Inter"/>
              </a:rPr>
              <a:t>Fait</a:t>
            </a:r>
          </a:p>
        </p:txBody>
      </p:sp>
      <p:sp>
        <p:nvSpPr>
          <p:cNvPr id="12" name="Rectangle 11"/>
          <p:cNvSpPr/>
          <p:nvPr/>
        </p:nvSpPr>
        <p:spPr>
          <a:xfrm>
            <a:off x="6995160" y="5806440"/>
            <a:ext cx="4572000" cy="502920"/>
          </a:xfrm>
          <a:prstGeom prst="rect">
            <a:avLst/>
          </a:prstGeom>
          <a:solidFill>
            <a:srgbClr val="EBE7DC"/>
          </a:solidFill>
          <a:ln w="6350">
            <a:solidFill>
              <a:srgbClr val="D5D2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95160" y="5806440"/>
            <a:ext cx="4572000" cy="502920"/>
          </a:xfrm>
          <a:prstGeom prst="rect">
            <a:avLst/>
          </a:prstGeom>
          <a:noFill/>
        </p:spPr>
        <p:txBody>
          <a:bodyPr wrap="square" lIns="0" rIns="0" tIns="0" bIns="0" anchor="ctr">
            <a:spAutoFit/>
          </a:bodyPr>
          <a:lstStyle/>
          <a:p>
            <a:pPr algn="ctr">
              <a:lnSpc>
                <a:spcPct val="150000"/>
              </a:lnSpc>
            </a:pPr>
            <a:r>
              <a:rPr sz="1000" b="0">
                <a:solidFill>
                  <a:srgbClr val="5A5D56"/>
                </a:solidFill>
                <a:latin typeface="Roboto Mono"/>
              </a:rPr>
              <a:t>⎘   CAPTURE À INSERER
Onglet Reponses aux avis - GBP</a:t>
            </a:r>
          </a:p>
        </p:txBody>
      </p:sp>
      <p:sp>
        <p:nvSpPr>
          <p:cNvPr id="14" name="TextBox 13"/>
          <p:cNvSpPr txBox="1"/>
          <p:nvPr/>
        </p:nvSpPr>
        <p:spPr>
          <a:xfrm>
            <a:off x="640080" y="6446520"/>
            <a:ext cx="6400800" cy="274320"/>
          </a:xfrm>
          <a:prstGeom prst="rect">
            <a:avLst/>
          </a:prstGeom>
          <a:noFill/>
        </p:spPr>
        <p:txBody>
          <a:bodyPr wrap="square" lIns="0" rIns="0" tIns="0" bIns="0" anchor="t">
            <a:spAutoFit/>
          </a:bodyPr>
          <a:lstStyle/>
          <a:p>
            <a:pPr algn="l">
              <a:lnSpc>
                <a:spcPct val="120000"/>
              </a:lnSpc>
            </a:pPr>
            <a:r>
              <a:rPr sz="800" b="0">
                <a:solidFill>
                  <a:srgbClr val="5A5D56"/>
                </a:solidFill>
                <a:latin typeface="Roboto Mono"/>
              </a:rPr>
              <a:t>CARNET PLEIN® BY MAD MAKERS  ·  BONUS #1 · FICHE GOOGLE PARFAITE</a:t>
            </a:r>
          </a:p>
        </p:txBody>
      </p:sp>
      <p:sp>
        <p:nvSpPr>
          <p:cNvPr id="15" name="TextBox 14"/>
          <p:cNvSpPr txBox="1"/>
          <p:nvPr/>
        </p:nvSpPr>
        <p:spPr>
          <a:xfrm>
            <a:off x="10607040" y="6446520"/>
            <a:ext cx="1005840" cy="274320"/>
          </a:xfrm>
          <a:prstGeom prst="rect">
            <a:avLst/>
          </a:prstGeom>
          <a:noFill/>
        </p:spPr>
        <p:txBody>
          <a:bodyPr wrap="square" lIns="0" rIns="0" tIns="0" bIns="0" anchor="t">
            <a:spAutoFit/>
          </a:bodyPr>
          <a:lstStyle/>
          <a:p>
            <a:pPr algn="r">
              <a:lnSpc>
                <a:spcPct val="120000"/>
              </a:lnSpc>
            </a:pPr>
            <a:r>
              <a:rPr sz="800" b="0">
                <a:solidFill>
                  <a:srgbClr val="5A5D56"/>
                </a:solidFill>
                <a:latin typeface="Roboto Mono"/>
              </a:rPr>
              <a:t>13 / 18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371600" cy="365760"/>
          </a:xfrm>
          <a:prstGeom prst="rect">
            <a:avLst/>
          </a:prstGeom>
          <a:noFill/>
        </p:spPr>
        <p:txBody>
          <a:bodyPr wrap="square" lIns="0" rIns="0" tIns="0" bIns="0" anchor="t">
            <a:spAutoFit/>
          </a:bodyPr>
          <a:lstStyle/>
          <a:p>
            <a:pPr algn="l">
              <a:lnSpc>
                <a:spcPct val="120000"/>
              </a:lnSpc>
            </a:pPr>
            <a:r>
              <a:rPr sz="1200" b="1">
                <a:solidFill>
                  <a:srgbClr val="E0541B"/>
                </a:solidFill>
                <a:latin typeface="Roboto Mono"/>
              </a:rPr>
              <a:t>12 / 12</a:t>
            </a:r>
          </a:p>
        </p:txBody>
      </p:sp>
      <p:sp>
        <p:nvSpPr>
          <p:cNvPr id="4" name="TextBox 3"/>
          <p:cNvSpPr txBox="1"/>
          <p:nvPr/>
        </p:nvSpPr>
        <p:spPr>
          <a:xfrm>
            <a:off x="640080" y="914400"/>
            <a:ext cx="10515600" cy="914400"/>
          </a:xfrm>
          <a:prstGeom prst="rect">
            <a:avLst/>
          </a:prstGeom>
          <a:noFill/>
        </p:spPr>
        <p:txBody>
          <a:bodyPr wrap="square" lIns="0" rIns="0" tIns="0" bIns="0" anchor="t">
            <a:spAutoFit/>
          </a:bodyPr>
          <a:lstStyle/>
          <a:p>
            <a:pPr algn="l">
              <a:lnSpc>
                <a:spcPct val="110000"/>
              </a:lnSpc>
            </a:pPr>
            <a:r>
              <a:rPr sz="3200" b="1">
                <a:solidFill>
                  <a:srgbClr val="0A0A0A"/>
                </a:solidFill>
                <a:latin typeface="Inter"/>
              </a:rPr>
              <a:t>Questions et reponses : alimentez votre site, pas la fiche</a:t>
            </a:r>
          </a:p>
        </p:txBody>
      </p:sp>
      <p:sp>
        <p:nvSpPr>
          <p:cNvPr id="5" name="Rectangle 4"/>
          <p:cNvSpPr/>
          <p:nvPr/>
        </p:nvSpPr>
        <p:spPr>
          <a:xfrm>
            <a:off x="640080" y="1920240"/>
            <a:ext cx="457200" cy="36576"/>
          </a:xfrm>
          <a:prstGeom prst="rect">
            <a:avLst/>
          </a:prstGeom>
          <a:solidFill>
            <a:srgbClr val="E054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286000"/>
            <a:ext cx="5303520" cy="274320"/>
          </a:xfrm>
          <a:prstGeom prst="rect">
            <a:avLst/>
          </a:prstGeom>
          <a:noFill/>
        </p:spPr>
        <p:txBody>
          <a:bodyPr wrap="square" lIns="0" rIns="0" tIns="0" bIns="0" anchor="t">
            <a:spAutoFit/>
          </a:bodyPr>
          <a:lstStyle/>
          <a:p>
            <a:pPr algn="l">
              <a:lnSpc>
                <a:spcPct val="120000"/>
              </a:lnSpc>
            </a:pPr>
            <a:r>
              <a:rPr sz="1000" b="1">
                <a:solidFill>
                  <a:srgbClr val="E0541B"/>
                </a:solidFill>
                <a:latin typeface="Roboto Mono"/>
              </a:rPr>
              <a:t>POURQUOI C'EST IMPORTANT</a:t>
            </a:r>
          </a:p>
        </p:txBody>
      </p:sp>
      <p:sp>
        <p:nvSpPr>
          <p:cNvPr id="7" name="TextBox 6"/>
          <p:cNvSpPr txBox="1"/>
          <p:nvPr/>
        </p:nvSpPr>
        <p:spPr>
          <a:xfrm>
            <a:off x="640080" y="2697480"/>
            <a:ext cx="5303520" cy="2743200"/>
          </a:xfrm>
          <a:prstGeom prst="rect">
            <a:avLst/>
          </a:prstGeom>
          <a:noFill/>
        </p:spPr>
        <p:txBody>
          <a:bodyPr wrap="square" lIns="0" rIns="0" tIns="0" bIns="0" anchor="t">
            <a:spAutoFit/>
          </a:bodyPr>
          <a:lstStyle/>
          <a:p>
            <a:pPr algn="l">
              <a:lnSpc>
                <a:spcPct val="155000"/>
              </a:lnSpc>
            </a:pPr>
            <a:r>
              <a:rPr sz="1300" b="0">
                <a:solidFill>
                  <a:srgbClr val="1A1C18"/>
                </a:solidFill>
                <a:latin typeface="Inter"/>
              </a:rPr>
              <a:t>Mise a jour fin 2025 : Google retire progressivement la section Questions/Reponses de la fiche. L'API a ete coupee le 3 novembre 2025, remplacee par une reponse IA Gemini (Ask Maps) qui pioche dans votre fiche, vos avis et votre site. Conclusion : nourrissez les sources que l'IA va lire.</a:t>
            </a:r>
          </a:p>
        </p:txBody>
      </p:sp>
      <p:sp>
        <p:nvSpPr>
          <p:cNvPr id="8" name="TextBox 7"/>
          <p:cNvSpPr txBox="1"/>
          <p:nvPr/>
        </p:nvSpPr>
        <p:spPr>
          <a:xfrm>
            <a:off x="6263640" y="2286000"/>
            <a:ext cx="5303520" cy="274320"/>
          </a:xfrm>
          <a:prstGeom prst="rect">
            <a:avLst/>
          </a:prstGeom>
          <a:noFill/>
        </p:spPr>
        <p:txBody>
          <a:bodyPr wrap="square" lIns="0" rIns="0" tIns="0" bIns="0" anchor="t">
            <a:spAutoFit/>
          </a:bodyPr>
          <a:lstStyle/>
          <a:p>
            <a:pPr algn="l">
              <a:lnSpc>
                <a:spcPct val="120000"/>
              </a:lnSpc>
            </a:pPr>
            <a:r>
              <a:rPr sz="1000" b="1">
                <a:solidFill>
                  <a:srgbClr val="E0541B"/>
                </a:solidFill>
                <a:latin typeface="Roboto Mono"/>
              </a:rPr>
              <a:t>ACTION CONCRETE</a:t>
            </a:r>
          </a:p>
        </p:txBody>
      </p:sp>
      <p:sp>
        <p:nvSpPr>
          <p:cNvPr id="9" name="TextBox 8"/>
          <p:cNvSpPr txBox="1"/>
          <p:nvPr/>
        </p:nvSpPr>
        <p:spPr>
          <a:xfrm>
            <a:off x="6263640" y="2697480"/>
            <a:ext cx="5303520" cy="3200400"/>
          </a:xfrm>
          <a:prstGeom prst="rect">
            <a:avLst/>
          </a:prstGeom>
          <a:noFill/>
        </p:spPr>
        <p:txBody>
          <a:bodyPr wrap="square" lIns="0" rIns="0" tIns="0" bIns="0">
            <a:spAutoFit/>
          </a:bodyPr>
          <a:lstStyle/>
          <a:p>
            <a:pPr algn="l">
              <a:lnSpc>
                <a:spcPct val="150000"/>
              </a:lnSpc>
              <a:spcAft>
                <a:spcPts val="600"/>
              </a:spcAft>
            </a:pPr>
            <a:r>
              <a:rPr sz="1200" b="1">
                <a:solidFill>
                  <a:srgbClr val="E0541B"/>
                </a:solidFill>
                <a:latin typeface="Inter"/>
              </a:rPr>
              <a:t>1.  </a:t>
            </a:r>
            <a:r>
              <a:rPr sz="1200">
                <a:solidFill>
                  <a:srgbClr val="1A1C18"/>
                </a:solidFill>
                <a:latin typeface="Inter"/>
              </a:rPr>
              <a:t>Si Q&amp;R encore visibles sur votre fiche : repondez aux questions deja posees, supprimez les reponses erronees</a:t>
            </a:r>
          </a:p>
          <a:p>
            <a:pPr algn="l">
              <a:lnSpc>
                <a:spcPct val="150000"/>
              </a:lnSpc>
              <a:spcAft>
                <a:spcPts val="600"/>
              </a:spcAft>
            </a:pPr>
            <a:r>
              <a:rPr sz="1200" b="1">
                <a:solidFill>
                  <a:srgbClr val="E0541B"/>
                </a:solidFill>
                <a:latin typeface="Inter"/>
              </a:rPr>
              <a:t>2.  </a:t>
            </a:r>
            <a:r>
              <a:rPr sz="1200">
                <a:solidFill>
                  <a:srgbClr val="1A1C18"/>
                </a:solidFill>
                <a:latin typeface="Inter"/>
              </a:rPr>
              <a:t>Sur votre site : creez une page FAQ avec balisage Schema.org/FAQPage</a:t>
            </a:r>
          </a:p>
          <a:p>
            <a:pPr algn="l">
              <a:lnSpc>
                <a:spcPct val="150000"/>
              </a:lnSpc>
              <a:spcAft>
                <a:spcPts val="600"/>
              </a:spcAft>
            </a:pPr>
            <a:r>
              <a:rPr sz="1200" b="1">
                <a:solidFill>
                  <a:srgbClr val="E0541B"/>
                </a:solidFill>
                <a:latin typeface="Inter"/>
              </a:rPr>
              <a:t>3.  </a:t>
            </a:r>
            <a:r>
              <a:rPr sz="1200">
                <a:solidFill>
                  <a:srgbClr val="1A1C18"/>
                </a:solidFill>
                <a:latin typeface="Inter"/>
              </a:rPr>
              <a:t>8-10 questions classiques : Etes-vous certifie RGE ? Faites-vous des devis gratuits ? Acceptez-vous MaPrimeRenov ?</a:t>
            </a:r>
          </a:p>
          <a:p>
            <a:pPr algn="l">
              <a:lnSpc>
                <a:spcPct val="150000"/>
              </a:lnSpc>
              <a:spcAft>
                <a:spcPts val="600"/>
              </a:spcAft>
            </a:pPr>
            <a:r>
              <a:rPr sz="1200" b="1">
                <a:solidFill>
                  <a:srgbClr val="E0541B"/>
                </a:solidFill>
                <a:latin typeface="Inter"/>
              </a:rPr>
              <a:t>4.  </a:t>
            </a:r>
            <a:r>
              <a:rPr sz="1200">
                <a:solidFill>
                  <a:srgbClr val="1A1C18"/>
                </a:solidFill>
                <a:latin typeface="Inter"/>
              </a:rPr>
              <a:t>Remontez les questions frequentes dans la Description et les Services de la fiche</a:t>
            </a:r>
          </a:p>
          <a:p>
            <a:pPr algn="l">
              <a:lnSpc>
                <a:spcPct val="150000"/>
              </a:lnSpc>
              <a:spcAft>
                <a:spcPts val="600"/>
              </a:spcAft>
            </a:pPr>
            <a:r>
              <a:rPr sz="1200" b="1">
                <a:solidFill>
                  <a:srgbClr val="E0541B"/>
                </a:solidFill>
                <a:latin typeface="Inter"/>
              </a:rPr>
              <a:t>5.  </a:t>
            </a:r>
            <a:r>
              <a:rPr sz="1200">
                <a:solidFill>
                  <a:srgbClr val="1A1C18"/>
                </a:solidFill>
                <a:latin typeface="Inter"/>
              </a:rPr>
              <a:t>C'est cette information structuree que Gemini lira pour repondre a vos prospects</a:t>
            </a:r>
          </a:p>
        </p:txBody>
      </p:sp>
      <p:sp>
        <p:nvSpPr>
          <p:cNvPr id="10" name="Rectangle 9"/>
          <p:cNvSpPr/>
          <p:nvPr/>
        </p:nvSpPr>
        <p:spPr>
          <a:xfrm>
            <a:off x="640080" y="5852160"/>
            <a:ext cx="256032" cy="256032"/>
          </a:xfrm>
          <a:prstGeom prst="rect">
            <a:avLst/>
          </a:prstGeom>
          <a:solidFill>
            <a:srgbClr val="F3F2EE"/>
          </a:solidFill>
          <a:ln w="15240">
            <a:solidFill>
              <a:srgbClr val="1A1C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5815584"/>
            <a:ext cx="1828800" cy="365760"/>
          </a:xfrm>
          <a:prstGeom prst="rect">
            <a:avLst/>
          </a:prstGeom>
          <a:noFill/>
        </p:spPr>
        <p:txBody>
          <a:bodyPr wrap="square" lIns="0" rIns="0" tIns="0" bIns="0" anchor="t">
            <a:spAutoFit/>
          </a:bodyPr>
          <a:lstStyle/>
          <a:p>
            <a:pPr algn="l">
              <a:lnSpc>
                <a:spcPct val="120000"/>
              </a:lnSpc>
            </a:pPr>
            <a:r>
              <a:rPr sz="1200" b="0">
                <a:solidFill>
                  <a:srgbClr val="1A1C18"/>
                </a:solidFill>
                <a:latin typeface="Inter"/>
              </a:rPr>
              <a:t>Fait</a:t>
            </a:r>
          </a:p>
        </p:txBody>
      </p:sp>
      <p:sp>
        <p:nvSpPr>
          <p:cNvPr id="12" name="Rectangle 11"/>
          <p:cNvSpPr/>
          <p:nvPr/>
        </p:nvSpPr>
        <p:spPr>
          <a:xfrm>
            <a:off x="6995160" y="5806440"/>
            <a:ext cx="4572000" cy="502920"/>
          </a:xfrm>
          <a:prstGeom prst="rect">
            <a:avLst/>
          </a:prstGeom>
          <a:solidFill>
            <a:srgbClr val="EBE7DC"/>
          </a:solidFill>
          <a:ln w="6350">
            <a:solidFill>
              <a:srgbClr val="D5D2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95160" y="5806440"/>
            <a:ext cx="4572000" cy="502920"/>
          </a:xfrm>
          <a:prstGeom prst="rect">
            <a:avLst/>
          </a:prstGeom>
          <a:noFill/>
        </p:spPr>
        <p:txBody>
          <a:bodyPr wrap="square" lIns="0" rIns="0" tIns="0" bIns="0" anchor="ctr">
            <a:spAutoFit/>
          </a:bodyPr>
          <a:lstStyle/>
          <a:p>
            <a:pPr algn="ctr">
              <a:lnSpc>
                <a:spcPct val="150000"/>
              </a:lnSpc>
            </a:pPr>
            <a:r>
              <a:rPr sz="1000" b="0">
                <a:solidFill>
                  <a:srgbClr val="5A5D56"/>
                </a:solidFill>
                <a:latin typeface="Roboto Mono"/>
              </a:rPr>
              <a:t>⎘   CAPTURE À INSERER
Section Q&amp;R en retrait + FAQ Schema.org</a:t>
            </a:r>
          </a:p>
        </p:txBody>
      </p:sp>
      <p:sp>
        <p:nvSpPr>
          <p:cNvPr id="14" name="TextBox 13"/>
          <p:cNvSpPr txBox="1"/>
          <p:nvPr/>
        </p:nvSpPr>
        <p:spPr>
          <a:xfrm>
            <a:off x="640080" y="6446520"/>
            <a:ext cx="6400800" cy="274320"/>
          </a:xfrm>
          <a:prstGeom prst="rect">
            <a:avLst/>
          </a:prstGeom>
          <a:noFill/>
        </p:spPr>
        <p:txBody>
          <a:bodyPr wrap="square" lIns="0" rIns="0" tIns="0" bIns="0" anchor="t">
            <a:spAutoFit/>
          </a:bodyPr>
          <a:lstStyle/>
          <a:p>
            <a:pPr algn="l">
              <a:lnSpc>
                <a:spcPct val="120000"/>
              </a:lnSpc>
            </a:pPr>
            <a:r>
              <a:rPr sz="800" b="0">
                <a:solidFill>
                  <a:srgbClr val="5A5D56"/>
                </a:solidFill>
                <a:latin typeface="Roboto Mono"/>
              </a:rPr>
              <a:t>CARNET PLEIN® BY MAD MAKERS  ·  BONUS #1 · FICHE GOOGLE PARFAITE</a:t>
            </a:r>
          </a:p>
        </p:txBody>
      </p:sp>
      <p:sp>
        <p:nvSpPr>
          <p:cNvPr id="15" name="TextBox 14"/>
          <p:cNvSpPr txBox="1"/>
          <p:nvPr/>
        </p:nvSpPr>
        <p:spPr>
          <a:xfrm>
            <a:off x="10607040" y="6446520"/>
            <a:ext cx="1005840" cy="274320"/>
          </a:xfrm>
          <a:prstGeom prst="rect">
            <a:avLst/>
          </a:prstGeom>
          <a:noFill/>
        </p:spPr>
        <p:txBody>
          <a:bodyPr wrap="square" lIns="0" rIns="0" tIns="0" bIns="0" anchor="t">
            <a:spAutoFit/>
          </a:bodyPr>
          <a:lstStyle/>
          <a:p>
            <a:pPr algn="r">
              <a:lnSpc>
                <a:spcPct val="120000"/>
              </a:lnSpc>
            </a:pPr>
            <a:r>
              <a:rPr sz="800" b="0">
                <a:solidFill>
                  <a:srgbClr val="5A5D56"/>
                </a:solidFill>
                <a:latin typeface="Roboto Mono"/>
              </a:rPr>
              <a:t>14 / 18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48640"/>
            <a:ext cx="109728" cy="109728"/>
          </a:xfrm>
          <a:prstGeom prst="rect">
            <a:avLst/>
          </a:prstGeom>
          <a:solidFill>
            <a:srgbClr val="E054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8" y="502920"/>
            <a:ext cx="5486400" cy="274320"/>
          </a:xfrm>
          <a:prstGeom prst="rect">
            <a:avLst/>
          </a:prstGeom>
          <a:noFill/>
        </p:spPr>
        <p:txBody>
          <a:bodyPr wrap="square" lIns="0" rIns="0" tIns="0" bIns="0" anchor="t">
            <a:spAutoFit/>
          </a:bodyPr>
          <a:lstStyle/>
          <a:p>
            <a:pPr algn="l">
              <a:lnSpc>
                <a:spcPct val="120000"/>
              </a:lnSpc>
            </a:pPr>
            <a:r>
              <a:rPr sz="1000" b="0">
                <a:solidFill>
                  <a:srgbClr val="E0541B"/>
                </a:solidFill>
                <a:latin typeface="Roboto Mono"/>
              </a:rPr>
              <a:t>PLAN D'ACTION</a:t>
            </a:r>
          </a:p>
        </p:txBody>
      </p:sp>
      <p:sp>
        <p:nvSpPr>
          <p:cNvPr id="5" name="TextBox 4"/>
          <p:cNvSpPr txBox="1"/>
          <p:nvPr/>
        </p:nvSpPr>
        <p:spPr>
          <a:xfrm>
            <a:off x="640080" y="960120"/>
            <a:ext cx="10058400" cy="914400"/>
          </a:xfrm>
          <a:prstGeom prst="rect">
            <a:avLst/>
          </a:prstGeom>
          <a:noFill/>
        </p:spPr>
        <p:txBody>
          <a:bodyPr wrap="square" lIns="0" rIns="0" tIns="0" bIns="0" anchor="t">
            <a:spAutoFit/>
          </a:bodyPr>
          <a:lstStyle/>
          <a:p>
            <a:pPr algn="l">
              <a:lnSpc>
                <a:spcPct val="105000"/>
              </a:lnSpc>
            </a:pPr>
            <a:r>
              <a:rPr sz="3200" b="1">
                <a:solidFill>
                  <a:srgbClr val="0A0A0A"/>
                </a:solidFill>
                <a:latin typeface="Inter"/>
              </a:rPr>
              <a:t>Si vous n'avez le temps que pour 3 points cette semaine.</a:t>
            </a:r>
          </a:p>
        </p:txBody>
      </p:sp>
      <p:sp>
        <p:nvSpPr>
          <p:cNvPr id="6" name="Rounded Rectangle 5"/>
          <p:cNvSpPr/>
          <p:nvPr/>
        </p:nvSpPr>
        <p:spPr>
          <a:xfrm>
            <a:off x="640080" y="2011680"/>
            <a:ext cx="10927080" cy="1005840"/>
          </a:xfrm>
          <a:prstGeom prst="roundRect">
            <a:avLst>
              <a:gd name="adj" fmla="val 25000"/>
            </a:avLst>
          </a:prstGeom>
          <a:solidFill>
            <a:srgbClr val="E054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148840"/>
            <a:ext cx="10515600" cy="365760"/>
          </a:xfrm>
          <a:prstGeom prst="rect">
            <a:avLst/>
          </a:prstGeom>
          <a:noFill/>
        </p:spPr>
        <p:txBody>
          <a:bodyPr wrap="square" lIns="0" rIns="0" tIns="0" bIns="0" anchor="t">
            <a:spAutoFit/>
          </a:bodyPr>
          <a:lstStyle/>
          <a:p>
            <a:pPr algn="l">
              <a:lnSpc>
                <a:spcPct val="120000"/>
              </a:lnSpc>
            </a:pPr>
            <a:r>
              <a:rPr sz="1000" b="1">
                <a:solidFill>
                  <a:srgbClr val="0A0A0A"/>
                </a:solidFill>
                <a:latin typeface="Roboto Mono"/>
              </a:rPr>
              <a:t>PRIORITES</a:t>
            </a:r>
          </a:p>
        </p:txBody>
      </p:sp>
      <p:sp>
        <p:nvSpPr>
          <p:cNvPr id="8" name="TextBox 7"/>
          <p:cNvSpPr txBox="1"/>
          <p:nvPr/>
        </p:nvSpPr>
        <p:spPr>
          <a:xfrm>
            <a:off x="914400" y="2468880"/>
            <a:ext cx="10515600" cy="457200"/>
          </a:xfrm>
          <a:prstGeom prst="rect">
            <a:avLst/>
          </a:prstGeom>
          <a:noFill/>
        </p:spPr>
        <p:txBody>
          <a:bodyPr wrap="square" lIns="0" rIns="0" tIns="0" bIns="0" anchor="t">
            <a:spAutoFit/>
          </a:bodyPr>
          <a:lstStyle/>
          <a:p>
            <a:pPr algn="l">
              <a:lnSpc>
                <a:spcPct val="140000"/>
              </a:lnSpc>
            </a:pPr>
            <a:r>
              <a:rPr sz="1300" b="0">
                <a:solidFill>
                  <a:srgbClr val="0A0A0A"/>
                </a:solidFill>
                <a:latin typeface="Inter"/>
              </a:rPr>
              <a:t>Points 01, 04 et 10. Bonne categorie + 70 photos visees + systeme de demande d'avis post-chantier = environ 80% du resultat. Le reste affine et solidifie.</a:t>
            </a:r>
          </a:p>
        </p:txBody>
      </p:sp>
      <p:sp>
        <p:nvSpPr>
          <p:cNvPr id="9" name="TextBox 8"/>
          <p:cNvSpPr txBox="1"/>
          <p:nvPr/>
        </p:nvSpPr>
        <p:spPr>
          <a:xfrm>
            <a:off x="640080" y="3383280"/>
            <a:ext cx="10058400" cy="457200"/>
          </a:xfrm>
          <a:prstGeom prst="rect">
            <a:avLst/>
          </a:prstGeom>
          <a:noFill/>
        </p:spPr>
        <p:txBody>
          <a:bodyPr wrap="square" lIns="0" rIns="0" tIns="0" bIns="0" anchor="t">
            <a:spAutoFit/>
          </a:bodyPr>
          <a:lstStyle/>
          <a:p>
            <a:pPr algn="l">
              <a:lnSpc>
                <a:spcPct val="120000"/>
              </a:lnSpc>
            </a:pPr>
            <a:r>
              <a:rPr sz="2200" b="1">
                <a:solidFill>
                  <a:srgbClr val="0A0A0A"/>
                </a:solidFill>
                <a:latin typeface="Inter"/>
              </a:rPr>
              <a:t>Plan sur 30 jours.</a:t>
            </a:r>
          </a:p>
        </p:txBody>
      </p:sp>
      <p:sp>
        <p:nvSpPr>
          <p:cNvPr id="10" name="Rounded Rectangle 9"/>
          <p:cNvSpPr/>
          <p:nvPr/>
        </p:nvSpPr>
        <p:spPr>
          <a:xfrm>
            <a:off x="640080" y="4023360"/>
            <a:ext cx="2606040" cy="1965960"/>
          </a:xfrm>
          <a:prstGeom prst="roundRect">
            <a:avLst>
              <a:gd name="adj" fmla="val 25000"/>
            </a:avLst>
          </a:prstGeom>
          <a:solidFill>
            <a:srgbClr val="EBE7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206240"/>
            <a:ext cx="2148840" cy="274320"/>
          </a:xfrm>
          <a:prstGeom prst="rect">
            <a:avLst/>
          </a:prstGeom>
          <a:noFill/>
        </p:spPr>
        <p:txBody>
          <a:bodyPr wrap="square" lIns="0" rIns="0" tIns="0" bIns="0" anchor="t">
            <a:spAutoFit/>
          </a:bodyPr>
          <a:lstStyle/>
          <a:p>
            <a:pPr algn="l">
              <a:lnSpc>
                <a:spcPct val="120000"/>
              </a:lnSpc>
            </a:pPr>
            <a:r>
              <a:rPr sz="1000" b="1">
                <a:solidFill>
                  <a:srgbClr val="E0541B"/>
                </a:solidFill>
                <a:latin typeface="Roboto Mono"/>
              </a:rPr>
              <a:t>S1 - FONDATIONS</a:t>
            </a:r>
          </a:p>
        </p:txBody>
      </p:sp>
      <p:sp>
        <p:nvSpPr>
          <p:cNvPr id="12" name="TextBox 11"/>
          <p:cNvSpPr txBox="1"/>
          <p:nvPr/>
        </p:nvSpPr>
        <p:spPr>
          <a:xfrm>
            <a:off x="868680" y="4526280"/>
            <a:ext cx="2148840" cy="274320"/>
          </a:xfrm>
          <a:prstGeom prst="rect">
            <a:avLst/>
          </a:prstGeom>
          <a:noFill/>
        </p:spPr>
        <p:txBody>
          <a:bodyPr wrap="square" lIns="0" rIns="0" tIns="0" bIns="0" anchor="t">
            <a:spAutoFit/>
          </a:bodyPr>
          <a:lstStyle/>
          <a:p>
            <a:pPr algn="l">
              <a:lnSpc>
                <a:spcPct val="120000"/>
              </a:lnSpc>
            </a:pPr>
            <a:r>
              <a:rPr sz="1000" b="0">
                <a:solidFill>
                  <a:srgbClr val="5A5D56"/>
                </a:solidFill>
                <a:latin typeface="Roboto Mono"/>
              </a:rPr>
              <a:t>1h30 environ</a:t>
            </a:r>
          </a:p>
        </p:txBody>
      </p:sp>
      <p:sp>
        <p:nvSpPr>
          <p:cNvPr id="13" name="TextBox 12"/>
          <p:cNvSpPr txBox="1"/>
          <p:nvPr/>
        </p:nvSpPr>
        <p:spPr>
          <a:xfrm>
            <a:off x="868680" y="4937760"/>
            <a:ext cx="2148840" cy="914400"/>
          </a:xfrm>
          <a:prstGeom prst="rect">
            <a:avLst/>
          </a:prstGeom>
          <a:noFill/>
        </p:spPr>
        <p:txBody>
          <a:bodyPr wrap="square" lIns="0" rIns="0" tIns="0" bIns="0" anchor="t">
            <a:spAutoFit/>
          </a:bodyPr>
          <a:lstStyle/>
          <a:p>
            <a:pPr algn="l">
              <a:lnSpc>
                <a:spcPct val="155000"/>
              </a:lnSpc>
            </a:pPr>
            <a:r>
              <a:rPr sz="1200" b="0">
                <a:solidFill>
                  <a:srgbClr val="1A1C18"/>
                </a:solidFill>
                <a:latin typeface="Inter"/>
              </a:rPr>
              <a:t>Lundi  -  point 01
Mercredi  -  point 02
Vendredi  -  point 03</a:t>
            </a:r>
          </a:p>
        </p:txBody>
      </p:sp>
      <p:sp>
        <p:nvSpPr>
          <p:cNvPr id="14" name="Rounded Rectangle 13"/>
          <p:cNvSpPr/>
          <p:nvPr/>
        </p:nvSpPr>
        <p:spPr>
          <a:xfrm>
            <a:off x="3383280" y="4023360"/>
            <a:ext cx="2606040" cy="1965960"/>
          </a:xfrm>
          <a:prstGeom prst="roundRect">
            <a:avLst>
              <a:gd name="adj" fmla="val 25000"/>
            </a:avLst>
          </a:prstGeom>
          <a:solidFill>
            <a:srgbClr val="EBE7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11880" y="4206240"/>
            <a:ext cx="2148840" cy="274320"/>
          </a:xfrm>
          <a:prstGeom prst="rect">
            <a:avLst/>
          </a:prstGeom>
          <a:noFill/>
        </p:spPr>
        <p:txBody>
          <a:bodyPr wrap="square" lIns="0" rIns="0" tIns="0" bIns="0" anchor="t">
            <a:spAutoFit/>
          </a:bodyPr>
          <a:lstStyle/>
          <a:p>
            <a:pPr algn="l">
              <a:lnSpc>
                <a:spcPct val="120000"/>
              </a:lnSpc>
            </a:pPr>
            <a:r>
              <a:rPr sz="1000" b="1">
                <a:solidFill>
                  <a:srgbClr val="E0541B"/>
                </a:solidFill>
                <a:latin typeface="Roboto Mono"/>
              </a:rPr>
              <a:t>S2 - VISIBILITE</a:t>
            </a:r>
          </a:p>
        </p:txBody>
      </p:sp>
      <p:sp>
        <p:nvSpPr>
          <p:cNvPr id="16" name="TextBox 15"/>
          <p:cNvSpPr txBox="1"/>
          <p:nvPr/>
        </p:nvSpPr>
        <p:spPr>
          <a:xfrm>
            <a:off x="3611880" y="4526280"/>
            <a:ext cx="2148840" cy="274320"/>
          </a:xfrm>
          <a:prstGeom prst="rect">
            <a:avLst/>
          </a:prstGeom>
          <a:noFill/>
        </p:spPr>
        <p:txBody>
          <a:bodyPr wrap="square" lIns="0" rIns="0" tIns="0" bIns="0" anchor="t">
            <a:spAutoFit/>
          </a:bodyPr>
          <a:lstStyle/>
          <a:p>
            <a:pPr algn="l">
              <a:lnSpc>
                <a:spcPct val="120000"/>
              </a:lnSpc>
            </a:pPr>
            <a:r>
              <a:rPr sz="1000" b="0">
                <a:solidFill>
                  <a:srgbClr val="5A5D56"/>
                </a:solidFill>
                <a:latin typeface="Roboto Mono"/>
              </a:rPr>
              <a:t>2h environ</a:t>
            </a:r>
          </a:p>
        </p:txBody>
      </p:sp>
      <p:sp>
        <p:nvSpPr>
          <p:cNvPr id="17" name="TextBox 16"/>
          <p:cNvSpPr txBox="1"/>
          <p:nvPr/>
        </p:nvSpPr>
        <p:spPr>
          <a:xfrm>
            <a:off x="3611880" y="4937760"/>
            <a:ext cx="2148840" cy="914400"/>
          </a:xfrm>
          <a:prstGeom prst="rect">
            <a:avLst/>
          </a:prstGeom>
          <a:noFill/>
        </p:spPr>
        <p:txBody>
          <a:bodyPr wrap="square" lIns="0" rIns="0" tIns="0" bIns="0" anchor="t">
            <a:spAutoFit/>
          </a:bodyPr>
          <a:lstStyle/>
          <a:p>
            <a:pPr algn="l">
              <a:lnSpc>
                <a:spcPct val="155000"/>
              </a:lnSpc>
            </a:pPr>
            <a:r>
              <a:rPr sz="1200" b="0">
                <a:solidFill>
                  <a:srgbClr val="1A1C18"/>
                </a:solidFill>
                <a:latin typeface="Inter"/>
              </a:rPr>
              <a:t>Lundi  -  point 04
Mercredi  -  point 05
Vendredi  -  point 06</a:t>
            </a:r>
          </a:p>
        </p:txBody>
      </p:sp>
      <p:sp>
        <p:nvSpPr>
          <p:cNvPr id="18" name="Rounded Rectangle 17"/>
          <p:cNvSpPr/>
          <p:nvPr/>
        </p:nvSpPr>
        <p:spPr>
          <a:xfrm>
            <a:off x="6126480" y="4023360"/>
            <a:ext cx="2606040" cy="1965960"/>
          </a:xfrm>
          <a:prstGeom prst="roundRect">
            <a:avLst>
              <a:gd name="adj" fmla="val 25000"/>
            </a:avLst>
          </a:prstGeom>
          <a:solidFill>
            <a:srgbClr val="EBE7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80" y="4206240"/>
            <a:ext cx="2148840" cy="274320"/>
          </a:xfrm>
          <a:prstGeom prst="rect">
            <a:avLst/>
          </a:prstGeom>
          <a:noFill/>
        </p:spPr>
        <p:txBody>
          <a:bodyPr wrap="square" lIns="0" rIns="0" tIns="0" bIns="0" anchor="t">
            <a:spAutoFit/>
          </a:bodyPr>
          <a:lstStyle/>
          <a:p>
            <a:pPr algn="l">
              <a:lnSpc>
                <a:spcPct val="120000"/>
              </a:lnSpc>
            </a:pPr>
            <a:r>
              <a:rPr sz="1000" b="1">
                <a:solidFill>
                  <a:srgbClr val="E0541B"/>
                </a:solidFill>
                <a:latin typeface="Roboto Mono"/>
              </a:rPr>
              <a:t>S3 - PERIMETRE</a:t>
            </a:r>
          </a:p>
        </p:txBody>
      </p:sp>
      <p:sp>
        <p:nvSpPr>
          <p:cNvPr id="20" name="TextBox 19"/>
          <p:cNvSpPr txBox="1"/>
          <p:nvPr/>
        </p:nvSpPr>
        <p:spPr>
          <a:xfrm>
            <a:off x="6355080" y="4526280"/>
            <a:ext cx="2148840" cy="274320"/>
          </a:xfrm>
          <a:prstGeom prst="rect">
            <a:avLst/>
          </a:prstGeom>
          <a:noFill/>
        </p:spPr>
        <p:txBody>
          <a:bodyPr wrap="square" lIns="0" rIns="0" tIns="0" bIns="0" anchor="t">
            <a:spAutoFit/>
          </a:bodyPr>
          <a:lstStyle/>
          <a:p>
            <a:pPr algn="l">
              <a:lnSpc>
                <a:spcPct val="120000"/>
              </a:lnSpc>
            </a:pPr>
            <a:r>
              <a:rPr sz="1000" b="0">
                <a:solidFill>
                  <a:srgbClr val="5A5D56"/>
                </a:solidFill>
                <a:latin typeface="Roboto Mono"/>
              </a:rPr>
              <a:t>2h environ</a:t>
            </a:r>
          </a:p>
        </p:txBody>
      </p:sp>
      <p:sp>
        <p:nvSpPr>
          <p:cNvPr id="21" name="TextBox 20"/>
          <p:cNvSpPr txBox="1"/>
          <p:nvPr/>
        </p:nvSpPr>
        <p:spPr>
          <a:xfrm>
            <a:off x="6355080" y="4937760"/>
            <a:ext cx="2148840" cy="914400"/>
          </a:xfrm>
          <a:prstGeom prst="rect">
            <a:avLst/>
          </a:prstGeom>
          <a:noFill/>
        </p:spPr>
        <p:txBody>
          <a:bodyPr wrap="square" lIns="0" rIns="0" tIns="0" bIns="0" anchor="t">
            <a:spAutoFit/>
          </a:bodyPr>
          <a:lstStyle/>
          <a:p>
            <a:pPr algn="l">
              <a:lnSpc>
                <a:spcPct val="155000"/>
              </a:lnSpc>
            </a:pPr>
            <a:r>
              <a:rPr sz="1200" b="0">
                <a:solidFill>
                  <a:srgbClr val="1A1C18"/>
                </a:solidFill>
                <a:latin typeface="Inter"/>
              </a:rPr>
              <a:t>Lundi  -  point 07
Mercredi  -  point 08
Vendredi  -  point 09</a:t>
            </a:r>
          </a:p>
        </p:txBody>
      </p:sp>
      <p:sp>
        <p:nvSpPr>
          <p:cNvPr id="22" name="Rounded Rectangle 21"/>
          <p:cNvSpPr/>
          <p:nvPr/>
        </p:nvSpPr>
        <p:spPr>
          <a:xfrm>
            <a:off x="8869680" y="4023360"/>
            <a:ext cx="2606040" cy="1965960"/>
          </a:xfrm>
          <a:prstGeom prst="roundRect">
            <a:avLst>
              <a:gd name="adj" fmla="val 25000"/>
            </a:avLst>
          </a:prstGeom>
          <a:solidFill>
            <a:srgbClr val="EBE7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98280" y="4206240"/>
            <a:ext cx="2148840" cy="274320"/>
          </a:xfrm>
          <a:prstGeom prst="rect">
            <a:avLst/>
          </a:prstGeom>
          <a:noFill/>
        </p:spPr>
        <p:txBody>
          <a:bodyPr wrap="square" lIns="0" rIns="0" tIns="0" bIns="0" anchor="t">
            <a:spAutoFit/>
          </a:bodyPr>
          <a:lstStyle/>
          <a:p>
            <a:pPr algn="l">
              <a:lnSpc>
                <a:spcPct val="120000"/>
              </a:lnSpc>
            </a:pPr>
            <a:r>
              <a:rPr sz="1000" b="1">
                <a:solidFill>
                  <a:srgbClr val="E0541B"/>
                </a:solidFill>
                <a:latin typeface="Roboto Mono"/>
              </a:rPr>
              <a:t>S4 - TRACTION</a:t>
            </a:r>
          </a:p>
        </p:txBody>
      </p:sp>
      <p:sp>
        <p:nvSpPr>
          <p:cNvPr id="24" name="TextBox 23"/>
          <p:cNvSpPr txBox="1"/>
          <p:nvPr/>
        </p:nvSpPr>
        <p:spPr>
          <a:xfrm>
            <a:off x="9098280" y="4526280"/>
            <a:ext cx="2148840" cy="274320"/>
          </a:xfrm>
          <a:prstGeom prst="rect">
            <a:avLst/>
          </a:prstGeom>
          <a:noFill/>
        </p:spPr>
        <p:txBody>
          <a:bodyPr wrap="square" lIns="0" rIns="0" tIns="0" bIns="0" anchor="t">
            <a:spAutoFit/>
          </a:bodyPr>
          <a:lstStyle/>
          <a:p>
            <a:pPr algn="l">
              <a:lnSpc>
                <a:spcPct val="120000"/>
              </a:lnSpc>
            </a:pPr>
            <a:r>
              <a:rPr sz="1000" b="0">
                <a:solidFill>
                  <a:srgbClr val="5A5D56"/>
                </a:solidFill>
                <a:latin typeface="Roboto Mono"/>
              </a:rPr>
              <a:t>1h30 environ</a:t>
            </a:r>
          </a:p>
        </p:txBody>
      </p:sp>
      <p:sp>
        <p:nvSpPr>
          <p:cNvPr id="25" name="TextBox 24"/>
          <p:cNvSpPr txBox="1"/>
          <p:nvPr/>
        </p:nvSpPr>
        <p:spPr>
          <a:xfrm>
            <a:off x="9098280" y="4937760"/>
            <a:ext cx="2148840" cy="914400"/>
          </a:xfrm>
          <a:prstGeom prst="rect">
            <a:avLst/>
          </a:prstGeom>
          <a:noFill/>
        </p:spPr>
        <p:txBody>
          <a:bodyPr wrap="square" lIns="0" rIns="0" tIns="0" bIns="0" anchor="t">
            <a:spAutoFit/>
          </a:bodyPr>
          <a:lstStyle/>
          <a:p>
            <a:pPr algn="l">
              <a:lnSpc>
                <a:spcPct val="155000"/>
              </a:lnSpc>
            </a:pPr>
            <a:r>
              <a:rPr sz="1200" b="0">
                <a:solidFill>
                  <a:srgbClr val="1A1C18"/>
                </a:solidFill>
                <a:latin typeface="Inter"/>
              </a:rPr>
              <a:t>Lundi  -  point 10
Mercredi  -  point 11
Vendredi  -  point 12</a:t>
            </a:r>
          </a:p>
        </p:txBody>
      </p:sp>
      <p:sp>
        <p:nvSpPr>
          <p:cNvPr id="26" name="TextBox 25"/>
          <p:cNvSpPr txBox="1"/>
          <p:nvPr/>
        </p:nvSpPr>
        <p:spPr>
          <a:xfrm>
            <a:off x="640080" y="6446520"/>
            <a:ext cx="6400800" cy="274320"/>
          </a:xfrm>
          <a:prstGeom prst="rect">
            <a:avLst/>
          </a:prstGeom>
          <a:noFill/>
        </p:spPr>
        <p:txBody>
          <a:bodyPr wrap="square" lIns="0" rIns="0" tIns="0" bIns="0" anchor="t">
            <a:spAutoFit/>
          </a:bodyPr>
          <a:lstStyle/>
          <a:p>
            <a:pPr algn="l">
              <a:lnSpc>
                <a:spcPct val="120000"/>
              </a:lnSpc>
            </a:pPr>
            <a:r>
              <a:rPr sz="800" b="0">
                <a:solidFill>
                  <a:srgbClr val="5A5D56"/>
                </a:solidFill>
                <a:latin typeface="Roboto Mono"/>
              </a:rPr>
              <a:t>CARNET PLEIN® BY MAD MAKERS  ·  BONUS #1 · FICHE GOOGLE PARFAITE</a:t>
            </a:r>
          </a:p>
        </p:txBody>
      </p:sp>
      <p:sp>
        <p:nvSpPr>
          <p:cNvPr id="27" name="TextBox 26"/>
          <p:cNvSpPr txBox="1"/>
          <p:nvPr/>
        </p:nvSpPr>
        <p:spPr>
          <a:xfrm>
            <a:off x="10607040" y="6446520"/>
            <a:ext cx="1005840" cy="274320"/>
          </a:xfrm>
          <a:prstGeom prst="rect">
            <a:avLst/>
          </a:prstGeom>
          <a:noFill/>
        </p:spPr>
        <p:txBody>
          <a:bodyPr wrap="square" lIns="0" rIns="0" tIns="0" bIns="0" anchor="t">
            <a:spAutoFit/>
          </a:bodyPr>
          <a:lstStyle/>
          <a:p>
            <a:pPr algn="r">
              <a:lnSpc>
                <a:spcPct val="120000"/>
              </a:lnSpc>
            </a:pPr>
            <a:r>
              <a:rPr sz="800" b="0">
                <a:solidFill>
                  <a:srgbClr val="5A5D56"/>
                </a:solidFill>
                <a:latin typeface="Roboto Mono"/>
              </a:rPr>
              <a:t>15 / 18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48640"/>
            <a:ext cx="109728" cy="109728"/>
          </a:xfrm>
          <a:prstGeom prst="rect">
            <a:avLst/>
          </a:prstGeom>
          <a:solidFill>
            <a:srgbClr val="E054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8" y="502920"/>
            <a:ext cx="5486400" cy="274320"/>
          </a:xfrm>
          <a:prstGeom prst="rect">
            <a:avLst/>
          </a:prstGeom>
          <a:noFill/>
        </p:spPr>
        <p:txBody>
          <a:bodyPr wrap="square" lIns="0" rIns="0" tIns="0" bIns="0" anchor="t">
            <a:spAutoFit/>
          </a:bodyPr>
          <a:lstStyle/>
          <a:p>
            <a:pPr algn="l">
              <a:lnSpc>
                <a:spcPct val="120000"/>
              </a:lnSpc>
            </a:pPr>
            <a:r>
              <a:rPr sz="1000" b="0">
                <a:solidFill>
                  <a:srgbClr val="E0541B"/>
                </a:solidFill>
                <a:latin typeface="Roboto Mono"/>
              </a:rPr>
              <a:t>A GARDER EN TETE EN 2026</a:t>
            </a:r>
          </a:p>
        </p:txBody>
      </p:sp>
      <p:sp>
        <p:nvSpPr>
          <p:cNvPr id="5" name="TextBox 4"/>
          <p:cNvSpPr txBox="1"/>
          <p:nvPr/>
        </p:nvSpPr>
        <p:spPr>
          <a:xfrm>
            <a:off x="640080" y="960120"/>
            <a:ext cx="10515600" cy="914400"/>
          </a:xfrm>
          <a:prstGeom prst="rect">
            <a:avLst/>
          </a:prstGeom>
          <a:noFill/>
        </p:spPr>
        <p:txBody>
          <a:bodyPr wrap="square" lIns="0" rIns="0" tIns="0" bIns="0" anchor="t">
            <a:spAutoFit/>
          </a:bodyPr>
          <a:lstStyle/>
          <a:p>
            <a:pPr algn="l">
              <a:lnSpc>
                <a:spcPct val="110000"/>
              </a:lnSpc>
            </a:pPr>
            <a:r>
              <a:rPr sz="3000" b="1">
                <a:solidFill>
                  <a:srgbClr val="FFFFFF"/>
                </a:solidFill>
                <a:latin typeface="Inter"/>
              </a:rPr>
              <a:t>Deux changements reglementaires qui changent la donne.</a:t>
            </a:r>
          </a:p>
        </p:txBody>
      </p:sp>
      <p:sp>
        <p:nvSpPr>
          <p:cNvPr id="6" name="Rounded Rectangle 5"/>
          <p:cNvSpPr/>
          <p:nvPr/>
        </p:nvSpPr>
        <p:spPr>
          <a:xfrm>
            <a:off x="640080" y="2286000"/>
            <a:ext cx="5394960" cy="3474720"/>
          </a:xfrm>
          <a:prstGeom prst="roundRect">
            <a:avLst>
              <a:gd name="adj" fmla="val 25000"/>
            </a:avLst>
          </a:prstGeom>
          <a:solidFill>
            <a:srgbClr val="1A1C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560320"/>
            <a:ext cx="5029200" cy="274320"/>
          </a:xfrm>
          <a:prstGeom prst="rect">
            <a:avLst/>
          </a:prstGeom>
          <a:noFill/>
        </p:spPr>
        <p:txBody>
          <a:bodyPr wrap="square" lIns="0" rIns="0" tIns="0" bIns="0" anchor="t">
            <a:spAutoFit/>
          </a:bodyPr>
          <a:lstStyle/>
          <a:p>
            <a:pPr algn="l">
              <a:lnSpc>
                <a:spcPct val="120000"/>
              </a:lnSpc>
            </a:pPr>
            <a:r>
              <a:rPr sz="1000" b="1">
                <a:solidFill>
                  <a:srgbClr val="E0541B"/>
                </a:solidFill>
                <a:latin typeface="Roboto Mono"/>
              </a:rPr>
              <a:t>LABEL RGE RENFORCE</a:t>
            </a:r>
          </a:p>
        </p:txBody>
      </p:sp>
      <p:sp>
        <p:nvSpPr>
          <p:cNvPr id="8" name="TextBox 7"/>
          <p:cNvSpPr txBox="1"/>
          <p:nvPr/>
        </p:nvSpPr>
        <p:spPr>
          <a:xfrm>
            <a:off x="868680" y="2880360"/>
            <a:ext cx="5029200" cy="457200"/>
          </a:xfrm>
          <a:prstGeom prst="rect">
            <a:avLst/>
          </a:prstGeom>
          <a:noFill/>
        </p:spPr>
        <p:txBody>
          <a:bodyPr wrap="square" lIns="0" rIns="0" tIns="0" bIns="0" anchor="t">
            <a:spAutoFit/>
          </a:bodyPr>
          <a:lstStyle/>
          <a:p>
            <a:pPr algn="l">
              <a:lnSpc>
                <a:spcPct val="120000"/>
              </a:lnSpc>
            </a:pPr>
            <a:r>
              <a:rPr sz="1200" b="0">
                <a:solidFill>
                  <a:srgbClr val="A9A69F"/>
                </a:solidFill>
                <a:latin typeface="Inter"/>
              </a:rPr>
              <a:t>Depuis la loi du 30 juin 2025</a:t>
            </a:r>
          </a:p>
        </p:txBody>
      </p:sp>
      <p:sp>
        <p:nvSpPr>
          <p:cNvPr id="9" name="TextBox 8"/>
          <p:cNvSpPr txBox="1"/>
          <p:nvPr/>
        </p:nvSpPr>
        <p:spPr>
          <a:xfrm>
            <a:off x="868680" y="3429000"/>
            <a:ext cx="5029200" cy="2194560"/>
          </a:xfrm>
          <a:prstGeom prst="rect">
            <a:avLst/>
          </a:prstGeom>
          <a:noFill/>
        </p:spPr>
        <p:txBody>
          <a:bodyPr wrap="square" lIns="0" rIns="0" tIns="0" bIns="0" anchor="t">
            <a:spAutoFit/>
          </a:bodyPr>
          <a:lstStyle/>
          <a:p>
            <a:pPr algn="l">
              <a:lnSpc>
                <a:spcPct val="160000"/>
              </a:lnSpc>
            </a:pPr>
            <a:r>
              <a:rPr sz="1200" b="0">
                <a:solidFill>
                  <a:srgbClr val="FFFFFF"/>
                </a:solidFill>
                <a:latin typeface="Inter"/>
              </a:rPr>
              <a:t>Nouvelle obligation d'information du client, motif de retrait du label etendu. Argument cle dans le combat contre la fraude aux aides publiques.
Mentionnez vos certifications RGE QualiPAC et Qualibat sur la fiche, dans la description, dans les services, et dans les posts hebdomadaires.</a:t>
            </a:r>
          </a:p>
        </p:txBody>
      </p:sp>
      <p:sp>
        <p:nvSpPr>
          <p:cNvPr id="10" name="Rounded Rectangle 9"/>
          <p:cNvSpPr/>
          <p:nvPr/>
        </p:nvSpPr>
        <p:spPr>
          <a:xfrm>
            <a:off x="6172200" y="2286000"/>
            <a:ext cx="5394960" cy="3474720"/>
          </a:xfrm>
          <a:prstGeom prst="roundRect">
            <a:avLst>
              <a:gd name="adj" fmla="val 25000"/>
            </a:avLst>
          </a:prstGeom>
          <a:solidFill>
            <a:srgbClr val="1A1C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2560320"/>
            <a:ext cx="5029200" cy="274320"/>
          </a:xfrm>
          <a:prstGeom prst="rect">
            <a:avLst/>
          </a:prstGeom>
          <a:noFill/>
        </p:spPr>
        <p:txBody>
          <a:bodyPr wrap="square" lIns="0" rIns="0" tIns="0" bIns="0" anchor="t">
            <a:spAutoFit/>
          </a:bodyPr>
          <a:lstStyle/>
          <a:p>
            <a:pPr algn="l">
              <a:lnSpc>
                <a:spcPct val="120000"/>
              </a:lnSpc>
            </a:pPr>
            <a:r>
              <a:rPr sz="1000" b="1">
                <a:solidFill>
                  <a:srgbClr val="E0541B"/>
                </a:solidFill>
                <a:latin typeface="Roboto Mono"/>
              </a:rPr>
              <a:t>MAPRIMERENOV' 2025</a:t>
            </a:r>
          </a:p>
        </p:txBody>
      </p:sp>
      <p:sp>
        <p:nvSpPr>
          <p:cNvPr id="12" name="TextBox 11"/>
          <p:cNvSpPr txBox="1"/>
          <p:nvPr/>
        </p:nvSpPr>
        <p:spPr>
          <a:xfrm>
            <a:off x="6400800" y="2880360"/>
            <a:ext cx="5029200" cy="457200"/>
          </a:xfrm>
          <a:prstGeom prst="rect">
            <a:avLst/>
          </a:prstGeom>
          <a:noFill/>
        </p:spPr>
        <p:txBody>
          <a:bodyPr wrap="square" lIns="0" rIns="0" tIns="0" bIns="0" anchor="t">
            <a:spAutoFit/>
          </a:bodyPr>
          <a:lstStyle/>
          <a:p>
            <a:pPr algn="l">
              <a:lnSpc>
                <a:spcPct val="120000"/>
              </a:lnSpc>
            </a:pPr>
            <a:r>
              <a:rPr sz="1200" b="0">
                <a:solidFill>
                  <a:srgbClr val="A9A69F"/>
                </a:solidFill>
                <a:latin typeface="Inter"/>
              </a:rPr>
              <a:t>Decret du 4 decembre 2024</a:t>
            </a:r>
          </a:p>
        </p:txBody>
      </p:sp>
      <p:sp>
        <p:nvSpPr>
          <p:cNvPr id="13" name="TextBox 12"/>
          <p:cNvSpPr txBox="1"/>
          <p:nvPr/>
        </p:nvSpPr>
        <p:spPr>
          <a:xfrm>
            <a:off x="6400800" y="3429000"/>
            <a:ext cx="5029200" cy="2194560"/>
          </a:xfrm>
          <a:prstGeom prst="rect">
            <a:avLst/>
          </a:prstGeom>
          <a:noFill/>
        </p:spPr>
        <p:txBody>
          <a:bodyPr wrap="square" lIns="0" rIns="0" tIns="0" bIns="0" anchor="t">
            <a:spAutoFit/>
          </a:bodyPr>
          <a:lstStyle/>
          <a:p>
            <a:pPr algn="l">
              <a:lnSpc>
                <a:spcPct val="160000"/>
              </a:lnSpc>
            </a:pPr>
            <a:r>
              <a:rPr sz="1200" b="0">
                <a:solidFill>
                  <a:srgbClr val="FFFFFF"/>
                </a:solidFill>
                <a:latin typeface="Inter"/>
              </a:rPr>
              <a:t>Avance de tresorerie reduite : jusqu'a 50% de la prime versee avant chantier, reservee aux menages tres modestes (categorie bleue) en mono-geste, et aux bleus + jaunes en renovation d'ampleur.
Argument fort a mettre en avant dans vos posts et votre FAQ site.</a:t>
            </a:r>
          </a:p>
        </p:txBody>
      </p:sp>
      <p:sp>
        <p:nvSpPr>
          <p:cNvPr id="14" name="TextBox 13"/>
          <p:cNvSpPr txBox="1"/>
          <p:nvPr/>
        </p:nvSpPr>
        <p:spPr>
          <a:xfrm>
            <a:off x="640080" y="6446520"/>
            <a:ext cx="6400800" cy="274320"/>
          </a:xfrm>
          <a:prstGeom prst="rect">
            <a:avLst/>
          </a:prstGeom>
          <a:noFill/>
        </p:spPr>
        <p:txBody>
          <a:bodyPr wrap="square" lIns="0" rIns="0" tIns="0" bIns="0" anchor="t">
            <a:spAutoFit/>
          </a:bodyPr>
          <a:lstStyle/>
          <a:p>
            <a:pPr algn="l">
              <a:lnSpc>
                <a:spcPct val="120000"/>
              </a:lnSpc>
            </a:pPr>
            <a:r>
              <a:rPr sz="800" b="0">
                <a:solidFill>
                  <a:srgbClr val="5A5D56"/>
                </a:solidFill>
                <a:latin typeface="Roboto Mono"/>
              </a:rPr>
              <a:t>CARNET PLEIN® BY MAD MAKERS  ·  BONUS #1 · FICHE GOOGLE PARFAITE</a:t>
            </a:r>
          </a:p>
        </p:txBody>
      </p:sp>
      <p:sp>
        <p:nvSpPr>
          <p:cNvPr id="15" name="TextBox 14"/>
          <p:cNvSpPr txBox="1"/>
          <p:nvPr/>
        </p:nvSpPr>
        <p:spPr>
          <a:xfrm>
            <a:off x="10607040" y="6446520"/>
            <a:ext cx="1005840" cy="274320"/>
          </a:xfrm>
          <a:prstGeom prst="rect">
            <a:avLst/>
          </a:prstGeom>
          <a:noFill/>
        </p:spPr>
        <p:txBody>
          <a:bodyPr wrap="square" lIns="0" rIns="0" tIns="0" bIns="0" anchor="t">
            <a:spAutoFit/>
          </a:bodyPr>
          <a:lstStyle/>
          <a:p>
            <a:pPr algn="r">
              <a:lnSpc>
                <a:spcPct val="120000"/>
              </a:lnSpc>
            </a:pPr>
            <a:r>
              <a:rPr sz="800" b="0">
                <a:solidFill>
                  <a:srgbClr val="5A5D56"/>
                </a:solidFill>
                <a:latin typeface="Roboto Mono"/>
              </a:rPr>
              <a:t>16 / 18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640080"/>
            <a:ext cx="457200" cy="36576"/>
          </a:xfrm>
          <a:prstGeom prst="rect">
            <a:avLst/>
          </a:prstGeom>
          <a:solidFill>
            <a:srgbClr val="E054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77240"/>
            <a:ext cx="10058400" cy="365760"/>
          </a:xfrm>
          <a:prstGeom prst="rect">
            <a:avLst/>
          </a:prstGeom>
          <a:noFill/>
        </p:spPr>
        <p:txBody>
          <a:bodyPr wrap="square" lIns="0" rIns="0" tIns="0" bIns="0" anchor="t">
            <a:spAutoFit/>
          </a:bodyPr>
          <a:lstStyle/>
          <a:p>
            <a:pPr algn="l">
              <a:lnSpc>
                <a:spcPct val="120000"/>
              </a:lnSpc>
            </a:pPr>
            <a:r>
              <a:rPr sz="1000" b="1">
                <a:solidFill>
                  <a:srgbClr val="E0541B"/>
                </a:solidFill>
                <a:latin typeface="Roboto Mono"/>
              </a:rPr>
              <a:t>ALLER PLUS LOIN</a:t>
            </a:r>
          </a:p>
        </p:txBody>
      </p:sp>
      <p:sp>
        <p:nvSpPr>
          <p:cNvPr id="5" name="TextBox 4"/>
          <p:cNvSpPr txBox="1"/>
          <p:nvPr/>
        </p:nvSpPr>
        <p:spPr>
          <a:xfrm>
            <a:off x="640080" y="1371600"/>
            <a:ext cx="10515600" cy="2011680"/>
          </a:xfrm>
          <a:prstGeom prst="rect">
            <a:avLst/>
          </a:prstGeom>
          <a:noFill/>
        </p:spPr>
        <p:txBody>
          <a:bodyPr wrap="square" lIns="0" rIns="0" tIns="0" bIns="0" anchor="t">
            <a:spAutoFit/>
          </a:bodyPr>
          <a:lstStyle/>
          <a:p>
            <a:pPr algn="l">
              <a:lnSpc>
                <a:spcPct val="110000"/>
              </a:lnSpc>
            </a:pPr>
            <a:r>
              <a:rPr sz="3800" b="1">
                <a:solidFill>
                  <a:srgbClr val="0A0A0A"/>
                </a:solidFill>
                <a:latin typeface="Inter"/>
              </a:rPr>
              <a:t>Cette checklist, on l'applique a chaque artisan signe du programme.</a:t>
            </a:r>
          </a:p>
        </p:txBody>
      </p:sp>
      <p:sp>
        <p:nvSpPr>
          <p:cNvPr id="6" name="TextBox 5"/>
          <p:cNvSpPr txBox="1"/>
          <p:nvPr/>
        </p:nvSpPr>
        <p:spPr>
          <a:xfrm>
            <a:off x="640080" y="3657600"/>
            <a:ext cx="6858000" cy="2286000"/>
          </a:xfrm>
          <a:prstGeom prst="rect">
            <a:avLst/>
          </a:prstGeom>
          <a:noFill/>
        </p:spPr>
        <p:txBody>
          <a:bodyPr wrap="square" lIns="0" rIns="0" tIns="0" bIns="0" anchor="t">
            <a:spAutoFit/>
          </a:bodyPr>
          <a:lstStyle/>
          <a:p>
            <a:pPr algn="l">
              <a:lnSpc>
                <a:spcPct val="160000"/>
              </a:lnSpc>
            </a:pPr>
            <a:r>
              <a:rPr sz="1500" b="0">
                <a:solidFill>
                  <a:srgbClr val="1A1C18"/>
                </a:solidFill>
                <a:latin typeface="Inter"/>
              </a:rPr>
              <a:t>Plus l'inscription sur 50 annuaires metier (PagesJaunes, Habitatpresto, Travaux.com...), un systeme automatise qui envoie la demande d'avis au bon moment apres chaque chantier, et un reporting mensuel clair.
Vous gardez le savoir-faire metier. On gere le digital.</a:t>
            </a:r>
          </a:p>
        </p:txBody>
      </p:sp>
      <p:sp>
        <p:nvSpPr>
          <p:cNvPr id="7" name="Rounded Rectangle 6"/>
          <p:cNvSpPr/>
          <p:nvPr/>
        </p:nvSpPr>
        <p:spPr>
          <a:xfrm>
            <a:off x="7863840" y="3657600"/>
            <a:ext cx="3703320" cy="2286000"/>
          </a:xfrm>
          <a:prstGeom prst="roundRect">
            <a:avLst>
              <a:gd name="adj" fmla="val 25000"/>
            </a:avLst>
          </a:prstGeom>
          <a:solidFill>
            <a:srgbClr val="0A0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38160" y="3931920"/>
            <a:ext cx="3154680" cy="274320"/>
          </a:xfrm>
          <a:prstGeom prst="rect">
            <a:avLst/>
          </a:prstGeom>
          <a:noFill/>
        </p:spPr>
        <p:txBody>
          <a:bodyPr wrap="square" lIns="0" rIns="0" tIns="0" bIns="0" anchor="t">
            <a:spAutoFit/>
          </a:bodyPr>
          <a:lstStyle/>
          <a:p>
            <a:pPr algn="l">
              <a:lnSpc>
                <a:spcPct val="120000"/>
              </a:lnSpc>
            </a:pPr>
            <a:r>
              <a:rPr sz="1000" b="1">
                <a:solidFill>
                  <a:srgbClr val="E0541B"/>
                </a:solidFill>
                <a:latin typeface="Roboto Mono"/>
              </a:rPr>
              <a:t>AUDIT GRATUIT 20 MIN</a:t>
            </a:r>
          </a:p>
        </p:txBody>
      </p:sp>
      <p:sp>
        <p:nvSpPr>
          <p:cNvPr id="9" name="TextBox 8"/>
          <p:cNvSpPr txBox="1"/>
          <p:nvPr/>
        </p:nvSpPr>
        <p:spPr>
          <a:xfrm>
            <a:off x="8138160" y="4343400"/>
            <a:ext cx="3154680" cy="1280160"/>
          </a:xfrm>
          <a:prstGeom prst="rect">
            <a:avLst/>
          </a:prstGeom>
          <a:noFill/>
        </p:spPr>
        <p:txBody>
          <a:bodyPr wrap="square" lIns="0" rIns="0" tIns="0" bIns="0" anchor="t">
            <a:spAutoFit/>
          </a:bodyPr>
          <a:lstStyle/>
          <a:p>
            <a:pPr algn="l">
              <a:lnSpc>
                <a:spcPct val="150000"/>
              </a:lnSpc>
            </a:pPr>
            <a:r>
              <a:rPr sz="1200" b="0">
                <a:solidFill>
                  <a:srgbClr val="FFFFFF"/>
                </a:solidFill>
                <a:latin typeface="Inter"/>
              </a:rPr>
              <a:t>On regarde votre marche local et on vous dit honnetement si Carnet Plein® est fait pour vous. Sans engagement, sans pitch commercial.</a:t>
            </a:r>
          </a:p>
        </p:txBody>
      </p:sp>
      <p:sp>
        <p:nvSpPr>
          <p:cNvPr id="10" name="Rounded Rectangle 9"/>
          <p:cNvSpPr/>
          <p:nvPr/>
        </p:nvSpPr>
        <p:spPr>
          <a:xfrm>
            <a:off x="8138160" y="5349240"/>
            <a:ext cx="3154680" cy="457200"/>
          </a:xfrm>
          <a:prstGeom prst="roundRect">
            <a:avLst>
              <a:gd name="adj" fmla="val 25000"/>
            </a:avLst>
          </a:prstGeom>
          <a:solidFill>
            <a:srgbClr val="E054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38160" y="5349240"/>
            <a:ext cx="3154680" cy="457200"/>
          </a:xfrm>
          <a:prstGeom prst="rect">
            <a:avLst/>
          </a:prstGeom>
          <a:noFill/>
        </p:spPr>
        <p:txBody>
          <a:bodyPr wrap="square" lIns="0" rIns="0" tIns="0" bIns="0" anchor="ctr">
            <a:spAutoFit/>
          </a:bodyPr>
          <a:lstStyle/>
          <a:p>
            <a:pPr algn="ctr">
              <a:lnSpc>
                <a:spcPct val="120000"/>
              </a:lnSpc>
            </a:pPr>
            <a:r>
              <a:rPr sz="1100" b="1">
                <a:solidFill>
                  <a:srgbClr val="FFFFFF"/>
                </a:solidFill>
                <a:latin typeface="Roboto Mono"/>
              </a:rPr>
              <a:t>PRO.MAD-MAKERS.FR</a:t>
            </a:r>
          </a:p>
        </p:txBody>
      </p:sp>
      <p:sp>
        <p:nvSpPr>
          <p:cNvPr id="12" name="TextBox 11"/>
          <p:cNvSpPr txBox="1"/>
          <p:nvPr/>
        </p:nvSpPr>
        <p:spPr>
          <a:xfrm>
            <a:off x="640080" y="6446520"/>
            <a:ext cx="6400800" cy="274320"/>
          </a:xfrm>
          <a:prstGeom prst="rect">
            <a:avLst/>
          </a:prstGeom>
          <a:noFill/>
        </p:spPr>
        <p:txBody>
          <a:bodyPr wrap="square" lIns="0" rIns="0" tIns="0" bIns="0" anchor="t">
            <a:spAutoFit/>
          </a:bodyPr>
          <a:lstStyle/>
          <a:p>
            <a:pPr algn="l">
              <a:lnSpc>
                <a:spcPct val="120000"/>
              </a:lnSpc>
            </a:pPr>
            <a:r>
              <a:rPr sz="800" b="0">
                <a:solidFill>
                  <a:srgbClr val="5A5D56"/>
                </a:solidFill>
                <a:latin typeface="Roboto Mono"/>
              </a:rPr>
              <a:t>CARNET PLEIN® BY MAD MAKERS  ·  BONUS #1 · FICHE GOOGLE PARFAITE</a:t>
            </a:r>
          </a:p>
        </p:txBody>
      </p:sp>
      <p:sp>
        <p:nvSpPr>
          <p:cNvPr id="13" name="TextBox 12"/>
          <p:cNvSpPr txBox="1"/>
          <p:nvPr/>
        </p:nvSpPr>
        <p:spPr>
          <a:xfrm>
            <a:off x="10607040" y="6446520"/>
            <a:ext cx="1005840" cy="274320"/>
          </a:xfrm>
          <a:prstGeom prst="rect">
            <a:avLst/>
          </a:prstGeom>
          <a:noFill/>
        </p:spPr>
        <p:txBody>
          <a:bodyPr wrap="square" lIns="0" rIns="0" tIns="0" bIns="0" anchor="t">
            <a:spAutoFit/>
          </a:bodyPr>
          <a:lstStyle/>
          <a:p>
            <a:pPr algn="r">
              <a:lnSpc>
                <a:spcPct val="120000"/>
              </a:lnSpc>
            </a:pPr>
            <a:r>
              <a:rPr sz="800" b="0">
                <a:solidFill>
                  <a:srgbClr val="5A5D56"/>
                </a:solidFill>
                <a:latin typeface="Roboto Mono"/>
              </a:rPr>
              <a:t>17 / 18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48640"/>
            <a:ext cx="109728" cy="109728"/>
          </a:xfrm>
          <a:prstGeom prst="rect">
            <a:avLst/>
          </a:prstGeom>
          <a:solidFill>
            <a:srgbClr val="E054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8" y="502920"/>
            <a:ext cx="5486400" cy="274320"/>
          </a:xfrm>
          <a:prstGeom prst="rect">
            <a:avLst/>
          </a:prstGeom>
          <a:noFill/>
        </p:spPr>
        <p:txBody>
          <a:bodyPr wrap="square" lIns="0" rIns="0" tIns="0" bIns="0" anchor="t">
            <a:spAutoFit/>
          </a:bodyPr>
          <a:lstStyle/>
          <a:p>
            <a:pPr algn="l">
              <a:lnSpc>
                <a:spcPct val="120000"/>
              </a:lnSpc>
            </a:pPr>
            <a:r>
              <a:rPr sz="1000" b="0">
                <a:solidFill>
                  <a:srgbClr val="E0541B"/>
                </a:solidFill>
                <a:latin typeface="Roboto Mono"/>
              </a:rPr>
              <a:t>SOURCES PRINCIPALES</a:t>
            </a:r>
          </a:p>
        </p:txBody>
      </p:sp>
      <p:sp>
        <p:nvSpPr>
          <p:cNvPr id="5" name="TextBox 4"/>
          <p:cNvSpPr txBox="1"/>
          <p:nvPr/>
        </p:nvSpPr>
        <p:spPr>
          <a:xfrm>
            <a:off x="640080" y="960120"/>
            <a:ext cx="10058400" cy="914400"/>
          </a:xfrm>
          <a:prstGeom prst="rect">
            <a:avLst/>
          </a:prstGeom>
          <a:noFill/>
        </p:spPr>
        <p:txBody>
          <a:bodyPr wrap="square" lIns="0" rIns="0" tIns="0" bIns="0" anchor="t">
            <a:spAutoFit/>
          </a:bodyPr>
          <a:lstStyle/>
          <a:p>
            <a:pPr algn="l">
              <a:lnSpc>
                <a:spcPct val="110000"/>
              </a:lnSpc>
            </a:pPr>
            <a:r>
              <a:rPr sz="2800" b="1">
                <a:solidFill>
                  <a:srgbClr val="0A0A0A"/>
                </a:solidFill>
                <a:latin typeface="Inter"/>
              </a:rPr>
              <a:t>Les references derriere les chiffres.</a:t>
            </a:r>
          </a:p>
        </p:txBody>
      </p:sp>
      <p:sp>
        <p:nvSpPr>
          <p:cNvPr id="6" name="TextBox 5"/>
          <p:cNvSpPr txBox="1"/>
          <p:nvPr/>
        </p:nvSpPr>
        <p:spPr>
          <a:xfrm>
            <a:off x="640080" y="2286000"/>
            <a:ext cx="10058400" cy="3657600"/>
          </a:xfrm>
          <a:prstGeom prst="rect">
            <a:avLst/>
          </a:prstGeom>
          <a:noFill/>
        </p:spPr>
        <p:txBody>
          <a:bodyPr wrap="square" lIns="0" rIns="0" tIns="0" bIns="0">
            <a:spAutoFit/>
          </a:bodyPr>
          <a:lstStyle/>
          <a:p>
            <a:pPr algn="l">
              <a:lnSpc>
                <a:spcPct val="170000"/>
              </a:lnSpc>
              <a:spcAft>
                <a:spcPts val="400"/>
              </a:spcAft>
            </a:pPr>
            <a:r>
              <a:rPr sz="1400">
                <a:solidFill>
                  <a:srgbClr val="1A1C18"/>
                </a:solidFill>
                <a:latin typeface="Inter"/>
              </a:rPr>
              <a:t>-  Aide Google Business Profile  ·  support.google.com/business</a:t>
            </a:r>
          </a:p>
          <a:p>
            <a:pPr algn="l">
              <a:lnSpc>
                <a:spcPct val="170000"/>
              </a:lnSpc>
              <a:spcAft>
                <a:spcPts val="400"/>
              </a:spcAft>
            </a:pPr>
            <a:r>
              <a:rPr sz="1400">
                <a:solidFill>
                  <a:srgbClr val="1A1C18"/>
                </a:solidFill>
                <a:latin typeface="Inter"/>
              </a:rPr>
              <a:t>-  Whitespark Local Search Ranking Factors 2026</a:t>
            </a:r>
          </a:p>
          <a:p>
            <a:pPr algn="l">
              <a:lnSpc>
                <a:spcPct val="170000"/>
              </a:lnSpc>
              <a:spcAft>
                <a:spcPts val="400"/>
              </a:spcAft>
            </a:pPr>
            <a:r>
              <a:rPr sz="1400">
                <a:solidFill>
                  <a:srgbClr val="1A1C18"/>
                </a:solidFill>
                <a:latin typeface="Inter"/>
              </a:rPr>
              <a:t>-  BrightLocal Local Consumer Review Survey 2024-2026</a:t>
            </a:r>
          </a:p>
          <a:p>
            <a:pPr algn="l">
              <a:lnSpc>
                <a:spcPct val="170000"/>
              </a:lnSpc>
              <a:spcAft>
                <a:spcPts val="400"/>
              </a:spcAft>
            </a:pPr>
            <a:r>
              <a:rPr sz="1400">
                <a:solidFill>
                  <a:srgbClr val="1A1C18"/>
                </a:solidFill>
                <a:latin typeface="Inter"/>
              </a:rPr>
              <a:t>-  Backlinko Local SEO Statistics 2024</a:t>
            </a:r>
          </a:p>
          <a:p>
            <a:pPr algn="l">
              <a:lnSpc>
                <a:spcPct val="170000"/>
              </a:lnSpc>
              <a:spcAft>
                <a:spcPts val="400"/>
              </a:spcAft>
            </a:pPr>
            <a:r>
              <a:rPr sz="1400">
                <a:solidFill>
                  <a:srgbClr val="1A1C18"/>
                </a:solidFill>
                <a:latin typeface="Inter"/>
              </a:rPr>
              <a:t>-  Sterling Sky (Google Posts ranking factor study)</a:t>
            </a:r>
          </a:p>
          <a:p>
            <a:pPr algn="l">
              <a:lnSpc>
                <a:spcPct val="170000"/>
              </a:lnSpc>
              <a:spcAft>
                <a:spcPts val="400"/>
              </a:spcAft>
            </a:pPr>
            <a:r>
              <a:rPr sz="1400">
                <a:solidFill>
                  <a:srgbClr val="1A1C18"/>
                </a:solidFill>
                <a:latin typeface="Inter"/>
              </a:rPr>
              <a:t>-  ANAH / monprojet.anah.gouv.fr (MaPrimeRenov')</a:t>
            </a:r>
          </a:p>
          <a:p>
            <a:pPr algn="l">
              <a:lnSpc>
                <a:spcPct val="170000"/>
              </a:lnSpc>
              <a:spcAft>
                <a:spcPts val="400"/>
              </a:spcAft>
            </a:pPr>
            <a:r>
              <a:rPr sz="1400">
                <a:solidFill>
                  <a:srgbClr val="1A1C18"/>
                </a:solidFill>
                <a:latin typeface="Inter"/>
              </a:rPr>
              <a:t>-  Qualit'EnR (label RGE)</a:t>
            </a:r>
          </a:p>
          <a:p>
            <a:pPr algn="l">
              <a:lnSpc>
                <a:spcPct val="170000"/>
              </a:lnSpc>
              <a:spcAft>
                <a:spcPts val="400"/>
              </a:spcAft>
            </a:pPr>
            <a:r>
              <a:rPr sz="1400">
                <a:solidFill>
                  <a:srgbClr val="1A1C18"/>
                </a:solidFill>
                <a:latin typeface="Inter"/>
              </a:rPr>
              <a:t>-  economie.gouv.fr - Loi 2025-594 du 30 juin 2025</a:t>
            </a:r>
          </a:p>
          <a:p>
            <a:pPr algn="l">
              <a:lnSpc>
                <a:spcPct val="170000"/>
              </a:lnSpc>
              <a:spcAft>
                <a:spcPts val="400"/>
              </a:spcAft>
            </a:pPr>
            <a:r>
              <a:rPr sz="1400">
                <a:solidFill>
                  <a:srgbClr val="1A1C18"/>
                </a:solidFill>
                <a:latin typeface="Inter"/>
              </a:rPr>
              <a:t>-  WebFX Local SEO Statistics 2026</a:t>
            </a:r>
          </a:p>
        </p:txBody>
      </p:sp>
      <p:sp>
        <p:nvSpPr>
          <p:cNvPr id="7" name="TextBox 6"/>
          <p:cNvSpPr txBox="1"/>
          <p:nvPr/>
        </p:nvSpPr>
        <p:spPr>
          <a:xfrm>
            <a:off x="640080" y="5943600"/>
            <a:ext cx="10515600" cy="457200"/>
          </a:xfrm>
          <a:prstGeom prst="rect">
            <a:avLst/>
          </a:prstGeom>
          <a:noFill/>
        </p:spPr>
        <p:txBody>
          <a:bodyPr wrap="square" lIns="0" rIns="0" tIns="0" bIns="0" anchor="t">
            <a:spAutoFit/>
          </a:bodyPr>
          <a:lstStyle/>
          <a:p>
            <a:pPr algn="l">
              <a:lnSpc>
                <a:spcPct val="140000"/>
              </a:lnSpc>
            </a:pPr>
            <a:r>
              <a:rPr sz="900" b="0">
                <a:solidFill>
                  <a:srgbClr val="5A5D56"/>
                </a:solidFill>
                <a:latin typeface="Inter"/>
              </a:rPr>
              <a:t>Document a usage interne du client. Donnees publiques chiffrees actualisees au 1er trimestre 2026. Toute reproduction ou diffusion sans autorisation est interdite.</a:t>
            </a:r>
          </a:p>
        </p:txBody>
      </p:sp>
      <p:sp>
        <p:nvSpPr>
          <p:cNvPr id="8" name="TextBox 7"/>
          <p:cNvSpPr txBox="1"/>
          <p:nvPr/>
        </p:nvSpPr>
        <p:spPr>
          <a:xfrm>
            <a:off x="640080" y="6446520"/>
            <a:ext cx="6400800" cy="274320"/>
          </a:xfrm>
          <a:prstGeom prst="rect">
            <a:avLst/>
          </a:prstGeom>
          <a:noFill/>
        </p:spPr>
        <p:txBody>
          <a:bodyPr wrap="square" lIns="0" rIns="0" tIns="0" bIns="0" anchor="t">
            <a:spAutoFit/>
          </a:bodyPr>
          <a:lstStyle/>
          <a:p>
            <a:pPr algn="l">
              <a:lnSpc>
                <a:spcPct val="120000"/>
              </a:lnSpc>
            </a:pPr>
            <a:r>
              <a:rPr sz="800" b="0">
                <a:solidFill>
                  <a:srgbClr val="5A5D56"/>
                </a:solidFill>
                <a:latin typeface="Roboto Mono"/>
              </a:rPr>
              <a:t>CARNET PLEIN® BY MAD MAKERS  ·  BONUS #1 · FICHE GOOGLE PARFAITE</a:t>
            </a:r>
          </a:p>
        </p:txBody>
      </p:sp>
      <p:sp>
        <p:nvSpPr>
          <p:cNvPr id="9" name="TextBox 8"/>
          <p:cNvSpPr txBox="1"/>
          <p:nvPr/>
        </p:nvSpPr>
        <p:spPr>
          <a:xfrm>
            <a:off x="10607040" y="6446520"/>
            <a:ext cx="1005840" cy="274320"/>
          </a:xfrm>
          <a:prstGeom prst="rect">
            <a:avLst/>
          </a:prstGeom>
          <a:noFill/>
        </p:spPr>
        <p:txBody>
          <a:bodyPr wrap="square" lIns="0" rIns="0" tIns="0" bIns="0" anchor="t">
            <a:spAutoFit/>
          </a:bodyPr>
          <a:lstStyle/>
          <a:p>
            <a:pPr algn="r">
              <a:lnSpc>
                <a:spcPct val="120000"/>
              </a:lnSpc>
            </a:pPr>
            <a:r>
              <a:rPr sz="800" b="0">
                <a:solidFill>
                  <a:srgbClr val="5A5D56"/>
                </a:solidFill>
                <a:latin typeface="Roboto Mono"/>
              </a:rPr>
              <a:t>18 / 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